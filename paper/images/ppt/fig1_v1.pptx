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502384" cy="90708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raining panel"/>
          <p:cNvSpPr/>
          <p:nvPr/>
        </p:nvSpPr>
        <p:spPr>
          <a:xfrm>
            <a:off x="182880" y="548640"/>
            <a:ext cx="14136624" cy="1828800"/>
          </a:xfrm>
          <a:prstGeom prst="roundRect">
            <a:avLst>
              <a:gd name="adj" fmla="val 1500"/>
            </a:avLst>
          </a:prstGeom>
          <a:solidFill>
            <a:srgbClr val="EFF9FE"/>
          </a:solidFill>
          <a:ln w="27432">
            <a:solidFill>
              <a:srgbClr val="298FD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Sampling panel"/>
          <p:cNvSpPr/>
          <p:nvPr/>
        </p:nvSpPr>
        <p:spPr>
          <a:xfrm>
            <a:off x="182880" y="2523744"/>
            <a:ext cx="14136624" cy="6062472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27432">
            <a:solidFill>
              <a:srgbClr val="006A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Figure title"/>
          <p:cNvSpPr txBox="1"/>
          <p:nvPr/>
        </p:nvSpPr>
        <p:spPr>
          <a:xfrm>
            <a:off x="2286000" y="0"/>
            <a:ext cx="9875520" cy="4754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168" b="1" i="0">
                <a:solidFill>
                  <a:srgbClr val="071D43"/>
                </a:solidFill>
                <a:latin typeface="Arial"/>
              </a:rPr>
              <a:t>SPEN Diffusion Reconstruction</a:t>
            </a:r>
          </a:p>
        </p:txBody>
      </p:sp>
      <p:sp>
        <p:nvSpPr>
          <p:cNvPr id="5" name="Panel a"/>
          <p:cNvSpPr txBox="1"/>
          <p:nvPr/>
        </p:nvSpPr>
        <p:spPr>
          <a:xfrm>
            <a:off x="292608" y="594360"/>
            <a:ext cx="6949440" cy="2834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071D43"/>
                </a:solidFill>
                <a:latin typeface="Arial"/>
              </a:rPr>
              <a:t>(a)  Training the magnitude prior</a:t>
            </a:r>
          </a:p>
        </p:txBody>
      </p:sp>
      <p:sp>
        <p:nvSpPr>
          <p:cNvPr id="6" name="Training mode"/>
          <p:cNvSpPr txBox="1"/>
          <p:nvPr/>
        </p:nvSpPr>
        <p:spPr>
          <a:xfrm>
            <a:off x="11338560" y="612648"/>
            <a:ext cx="283464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2" b="0" i="0">
                <a:solidFill>
                  <a:srgbClr val="071D43"/>
                </a:solidFill>
                <a:latin typeface="Arial"/>
              </a:rPr>
              <a:t>Unconditional EDM training</a:t>
            </a:r>
          </a:p>
        </p:txBody>
      </p:sp>
      <p:sp>
        <p:nvSpPr>
          <p:cNvPr id="7" name="Panel b"/>
          <p:cNvSpPr txBox="1"/>
          <p:nvPr/>
        </p:nvSpPr>
        <p:spPr>
          <a:xfrm>
            <a:off x="292608" y="2560320"/>
            <a:ext cx="7498079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071D43"/>
                </a:solidFill>
                <a:latin typeface="Arial"/>
              </a:rPr>
              <a:t>(b)  Physics-constrained sampling</a:t>
            </a:r>
          </a:p>
        </p:txBody>
      </p:sp>
      <p:pic>
        <p:nvPicPr>
          <p:cNvPr id="8" name="Clean training magnitude" descr="Clean training magnitu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1124712"/>
            <a:ext cx="1133856" cy="877824"/>
          </a:xfrm>
          <a:prstGeom prst="rect">
            <a:avLst/>
          </a:prstGeom>
        </p:spPr>
      </p:pic>
      <p:sp>
        <p:nvSpPr>
          <p:cNvPr id="9" name="Clean image label"/>
          <p:cNvSpPr txBox="1"/>
          <p:nvPr/>
        </p:nvSpPr>
        <p:spPr>
          <a:xfrm>
            <a:off x="658368" y="923544"/>
            <a:ext cx="1737360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071D43"/>
                </a:solidFill>
                <a:latin typeface="Arial"/>
              </a:rPr>
              <a:t>Clean magnitude image</a:t>
            </a:r>
          </a:p>
        </p:txBody>
      </p:sp>
      <p:sp>
        <p:nvSpPr>
          <p:cNvPr id="10" name="x0"/>
          <p:cNvSpPr txBox="1"/>
          <p:nvPr/>
        </p:nvSpPr>
        <p:spPr>
          <a:xfrm>
            <a:off x="1161288" y="1984248"/>
            <a:ext cx="731520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84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584" i="1">
                <a:solidFill>
                  <a:srgbClr val="071D43"/>
                </a:solidFill>
                <a:latin typeface="Liberation Serif"/>
              </a:rPr>
              <a:t>x</a:t>
            </a:r>
            <a:r>
              <a:rPr sz="1108" i="1" baseline="-22000">
                <a:solidFill>
                  <a:srgbClr val="071D43"/>
                </a:solidFill>
                <a:latin typeface="Liberation Serif"/>
              </a:rPr>
              <a:t>0</a:t>
            </a:r>
          </a:p>
        </p:txBody>
      </p:sp>
      <p:sp>
        <p:nvSpPr>
          <p:cNvPr id="11" name="Gaussian noising"/>
          <p:cNvSpPr/>
          <p:nvPr/>
        </p:nvSpPr>
        <p:spPr>
          <a:xfrm>
            <a:off x="2651760" y="1261872"/>
            <a:ext cx="1819656" cy="621792"/>
          </a:xfrm>
          <a:prstGeom prst="roundRect">
            <a:avLst>
              <a:gd name="adj" fmla="val 1500"/>
            </a:avLst>
          </a:prstGeom>
          <a:solidFill>
            <a:srgbClr val="E1F3FF"/>
          </a:solidFill>
          <a:ln w="21945">
            <a:solidFill>
              <a:srgbClr val="286BC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Noise instruction"/>
          <p:cNvSpPr txBox="1"/>
          <p:nvPr/>
        </p:nvSpPr>
        <p:spPr>
          <a:xfrm>
            <a:off x="2743200" y="1353312"/>
            <a:ext cx="1636776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4" b="1" i="0">
                <a:solidFill>
                  <a:srgbClr val="071D43"/>
                </a:solidFill>
                <a:latin typeface="Arial"/>
              </a:rPr>
              <a:t>Add Gaussian noise</a:t>
            </a:r>
          </a:p>
        </p:txBody>
      </p:sp>
      <p:sp>
        <p:nvSpPr>
          <p:cNvPr id="13" name="Noising equation"/>
          <p:cNvSpPr txBox="1"/>
          <p:nvPr/>
        </p:nvSpPr>
        <p:spPr>
          <a:xfrm>
            <a:off x="2770632" y="1591056"/>
            <a:ext cx="16002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439" i="1">
                <a:solidFill>
                  <a:srgbClr val="071D43"/>
                </a:solidFill>
                <a:latin typeface="Liberation Serif"/>
              </a:rPr>
              <a:t>x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σ</a:t>
            </a:r>
            <a:r>
              <a:rPr sz="1439" i="1">
                <a:solidFill>
                  <a:srgbClr val="071D43"/>
                </a:solidFill>
                <a:latin typeface="Liberation Serif"/>
              </a:rPr>
              <a:t> = x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0</a:t>
            </a:r>
            <a:r>
              <a:rPr sz="1439" i="1">
                <a:solidFill>
                  <a:srgbClr val="071D43"/>
                </a:solidFill>
                <a:latin typeface="Liberation Serif"/>
              </a:rPr>
              <a:t> + σ ε</a:t>
            </a:r>
          </a:p>
        </p:txBody>
      </p:sp>
      <p:sp>
        <p:nvSpPr>
          <p:cNvPr id="14" name="Noise distribution"/>
          <p:cNvSpPr txBox="1"/>
          <p:nvPr/>
        </p:nvSpPr>
        <p:spPr>
          <a:xfrm>
            <a:off x="2807208" y="1929384"/>
            <a:ext cx="1499616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296" i="1">
                <a:solidFill>
                  <a:srgbClr val="071D43"/>
                </a:solidFill>
                <a:latin typeface="Liberation Serif"/>
              </a:rPr>
              <a:t>ε ∼ N(0, I)</a:t>
            </a:r>
          </a:p>
        </p:txBody>
      </p:sp>
      <p:pic>
        <p:nvPicPr>
          <p:cNvPr id="15" name="Noisy training image" descr="Noisy training 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1124712"/>
            <a:ext cx="1069848" cy="877824"/>
          </a:xfrm>
          <a:prstGeom prst="rect">
            <a:avLst/>
          </a:prstGeom>
        </p:spPr>
      </p:pic>
      <p:sp>
        <p:nvSpPr>
          <p:cNvPr id="16" name="Noisy image label"/>
          <p:cNvSpPr txBox="1"/>
          <p:nvPr/>
        </p:nvSpPr>
        <p:spPr>
          <a:xfrm>
            <a:off x="4818888" y="923544"/>
            <a:ext cx="1252728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71D43"/>
                </a:solidFill>
                <a:latin typeface="Arial"/>
              </a:rPr>
              <a:t>Noisy image</a:t>
            </a:r>
          </a:p>
        </p:txBody>
      </p:sp>
      <p:sp>
        <p:nvSpPr>
          <p:cNvPr id="17" name="Noisy symbol"/>
          <p:cNvSpPr txBox="1"/>
          <p:nvPr/>
        </p:nvSpPr>
        <p:spPr>
          <a:xfrm>
            <a:off x="5056632" y="2002536"/>
            <a:ext cx="77724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12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512" i="1">
                <a:solidFill>
                  <a:srgbClr val="071D43"/>
                </a:solidFill>
                <a:latin typeface="Liberation Serif"/>
              </a:rPr>
              <a:t>x</a:t>
            </a:r>
            <a:r>
              <a:rPr sz="1058" i="1" baseline="-22000">
                <a:solidFill>
                  <a:srgbClr val="071D43"/>
                </a:solidFill>
                <a:latin typeface="Liberation Serif"/>
              </a:rPr>
              <a:t>σ</a:t>
            </a:r>
          </a:p>
        </p:txBody>
      </p:sp>
      <p:sp>
        <p:nvSpPr>
          <p:cNvPr id="18" name="U-Net block 1"/>
          <p:cNvSpPr/>
          <p:nvPr/>
        </p:nvSpPr>
        <p:spPr>
          <a:xfrm>
            <a:off x="6821424" y="1088136"/>
            <a:ext cx="274320" cy="987552"/>
          </a:xfrm>
          <a:custGeom>
            <a:avLst/>
            <a:gdLst/>
            <a:ahLst/>
            <a:cxnLst/>
            <a:rect l="l" t="t" r="r" b="b"/>
            <a:pathLst>
              <a:path w="30" h="108">
                <a:moveTo>
                  <a:pt x="0" y="0"/>
                </a:moveTo>
                <a:lnTo>
                  <a:pt x="30" y="11"/>
                </a:lnTo>
                <a:lnTo>
                  <a:pt x="30" y="97"/>
                </a:lnTo>
                <a:lnTo>
                  <a:pt x="0" y="108"/>
                </a:lnTo>
                <a:close/>
              </a:path>
            </a:pathLst>
          </a:custGeom>
          <a:solidFill>
            <a:srgbClr val="8FCFFF"/>
          </a:solidFill>
          <a:ln w="15240">
            <a:solidFill>
              <a:srgbClr val="0069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U-Net block 2"/>
          <p:cNvSpPr/>
          <p:nvPr/>
        </p:nvSpPr>
        <p:spPr>
          <a:xfrm>
            <a:off x="7159752" y="1234440"/>
            <a:ext cx="128016" cy="694944"/>
          </a:xfrm>
          <a:custGeom>
            <a:avLst/>
            <a:gdLst/>
            <a:ahLst/>
            <a:cxnLst/>
            <a:rect l="l" t="t" r="r" b="b"/>
            <a:pathLst>
              <a:path w="14" h="76">
                <a:moveTo>
                  <a:pt x="0" y="0"/>
                </a:moveTo>
                <a:lnTo>
                  <a:pt x="14" y="6"/>
                </a:lnTo>
                <a:lnTo>
                  <a:pt x="14" y="70"/>
                </a:lnTo>
                <a:lnTo>
                  <a:pt x="0" y="76"/>
                </a:lnTo>
                <a:close/>
              </a:path>
            </a:pathLst>
          </a:custGeom>
          <a:solidFill>
            <a:srgbClr val="8FCFFF"/>
          </a:solidFill>
          <a:ln w="15240">
            <a:solidFill>
              <a:srgbClr val="0069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U-Net block 3"/>
          <p:cNvSpPr/>
          <p:nvPr/>
        </p:nvSpPr>
        <p:spPr>
          <a:xfrm>
            <a:off x="8421624" y="1234440"/>
            <a:ext cx="137160" cy="694944"/>
          </a:xfrm>
          <a:custGeom>
            <a:avLst/>
            <a:gdLst/>
            <a:ahLst/>
            <a:cxnLst/>
            <a:rect l="l" t="t" r="r" b="b"/>
            <a:pathLst>
              <a:path w="15" h="76">
                <a:moveTo>
                  <a:pt x="0" y="6"/>
                </a:moveTo>
                <a:lnTo>
                  <a:pt x="15" y="0"/>
                </a:lnTo>
                <a:lnTo>
                  <a:pt x="15" y="76"/>
                </a:lnTo>
                <a:lnTo>
                  <a:pt x="0" y="70"/>
                </a:lnTo>
                <a:close/>
              </a:path>
            </a:pathLst>
          </a:custGeom>
          <a:solidFill>
            <a:srgbClr val="8FCFFF"/>
          </a:solidFill>
          <a:ln w="15240">
            <a:solidFill>
              <a:srgbClr val="0069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U-Net block 4"/>
          <p:cNvSpPr/>
          <p:nvPr/>
        </p:nvSpPr>
        <p:spPr>
          <a:xfrm>
            <a:off x="8622792" y="1088136"/>
            <a:ext cx="274320" cy="987552"/>
          </a:xfrm>
          <a:custGeom>
            <a:avLst/>
            <a:gdLst/>
            <a:ahLst/>
            <a:cxnLst/>
            <a:rect l="l" t="t" r="r" b="b"/>
            <a:pathLst>
              <a:path w="30" h="108">
                <a:moveTo>
                  <a:pt x="0" y="11"/>
                </a:moveTo>
                <a:lnTo>
                  <a:pt x="30" y="0"/>
                </a:lnTo>
                <a:lnTo>
                  <a:pt x="30" y="108"/>
                </a:lnTo>
                <a:lnTo>
                  <a:pt x="0" y="97"/>
                </a:lnTo>
                <a:close/>
              </a:path>
            </a:pathLst>
          </a:custGeom>
          <a:solidFill>
            <a:srgbClr val="8FCFFF"/>
          </a:solidFill>
          <a:ln w="15240">
            <a:solidFill>
              <a:srgbClr val="0069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U-Net central block"/>
          <p:cNvSpPr/>
          <p:nvPr/>
        </p:nvSpPr>
        <p:spPr>
          <a:xfrm>
            <a:off x="7342631" y="1325880"/>
            <a:ext cx="1033271" cy="521207"/>
          </a:xfrm>
          <a:prstGeom prst="rect">
            <a:avLst/>
          </a:prstGeom>
          <a:solidFill>
            <a:srgbClr val="B3DFFF"/>
          </a:solidFill>
          <a:ln w="18288">
            <a:solidFill>
              <a:srgbClr val="0069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rainable denoiser"/>
          <p:cNvSpPr txBox="1"/>
          <p:nvPr/>
        </p:nvSpPr>
        <p:spPr>
          <a:xfrm>
            <a:off x="7360920" y="1426464"/>
            <a:ext cx="987552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84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584" i="1">
                <a:solidFill>
                  <a:srgbClr val="071D43"/>
                </a:solidFill>
                <a:latin typeface="Liberation Serif"/>
              </a:rPr>
              <a:t>D</a:t>
            </a:r>
            <a:r>
              <a:rPr sz="1108" i="1" baseline="-22000">
                <a:solidFill>
                  <a:srgbClr val="071D43"/>
                </a:solidFill>
                <a:latin typeface="Liberation Serif"/>
              </a:rPr>
              <a:t>θ</a:t>
            </a:r>
            <a:r>
              <a:rPr sz="1584" i="1">
                <a:solidFill>
                  <a:srgbClr val="071D43"/>
                </a:solidFill>
                <a:latin typeface="Liberation Serif"/>
              </a:rPr>
              <a:t>(x</a:t>
            </a:r>
            <a:r>
              <a:rPr sz="1108" i="1" baseline="-22000">
                <a:solidFill>
                  <a:srgbClr val="071D43"/>
                </a:solidFill>
                <a:latin typeface="Liberation Serif"/>
              </a:rPr>
              <a:t>σ</a:t>
            </a:r>
            <a:r>
              <a:rPr sz="1584" i="1">
                <a:solidFill>
                  <a:srgbClr val="071D43"/>
                </a:solidFill>
                <a:latin typeface="Liberation Serif"/>
              </a:rPr>
              <a:t>, σ)</a:t>
            </a:r>
          </a:p>
        </p:txBody>
      </p:sp>
      <p:sp>
        <p:nvSpPr>
          <p:cNvPr id="24" name="U-Net title"/>
          <p:cNvSpPr txBox="1"/>
          <p:nvPr/>
        </p:nvSpPr>
        <p:spPr>
          <a:xfrm>
            <a:off x="6995160" y="914400"/>
            <a:ext cx="173736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71D43"/>
                </a:solidFill>
                <a:latin typeface="Arial"/>
              </a:rPr>
              <a:t>U-Net denoiser</a:t>
            </a:r>
          </a:p>
        </p:txBody>
      </p:sp>
      <p:pic>
        <p:nvPicPr>
          <p:cNvPr id="25" name="Training denoised output" descr="Training denoised out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28" y="1124712"/>
            <a:ext cx="1115568" cy="886968"/>
          </a:xfrm>
          <a:prstGeom prst="rect">
            <a:avLst/>
          </a:prstGeom>
        </p:spPr>
      </p:pic>
      <p:sp>
        <p:nvSpPr>
          <p:cNvPr id="26" name="Denoised output label"/>
          <p:cNvSpPr txBox="1"/>
          <p:nvPr/>
        </p:nvSpPr>
        <p:spPr>
          <a:xfrm>
            <a:off x="9262872" y="932688"/>
            <a:ext cx="1572768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071D43"/>
                </a:solidFill>
                <a:latin typeface="Arial"/>
              </a:rPr>
              <a:t>Denoised estimate</a:t>
            </a:r>
          </a:p>
        </p:txBody>
      </p:sp>
      <p:sp>
        <p:nvSpPr>
          <p:cNvPr id="27" name="Denoised symbol"/>
          <p:cNvSpPr txBox="1"/>
          <p:nvPr/>
        </p:nvSpPr>
        <p:spPr>
          <a:xfrm>
            <a:off x="9418320" y="2011680"/>
            <a:ext cx="1289304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439" i="1">
                <a:solidFill>
                  <a:srgbClr val="071D43"/>
                </a:solidFill>
                <a:latin typeface="Liberation Serif"/>
              </a:rPr>
              <a:t>D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θ</a:t>
            </a:r>
            <a:r>
              <a:rPr sz="1439" i="1">
                <a:solidFill>
                  <a:srgbClr val="071D43"/>
                </a:solidFill>
                <a:latin typeface="Liberation Serif"/>
              </a:rPr>
              <a:t>(x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σ</a:t>
            </a:r>
            <a:r>
              <a:rPr sz="1439" i="1">
                <a:solidFill>
                  <a:srgbClr val="071D43"/>
                </a:solidFill>
                <a:latin typeface="Liberation Serif"/>
              </a:rPr>
              <a:t>, σ)</a:t>
            </a:r>
          </a:p>
        </p:txBody>
      </p:sp>
      <p:sp>
        <p:nvSpPr>
          <p:cNvPr id="28" name="Training loss box"/>
          <p:cNvSpPr/>
          <p:nvPr/>
        </p:nvSpPr>
        <p:spPr>
          <a:xfrm>
            <a:off x="11064240" y="1280160"/>
            <a:ext cx="2779776" cy="704088"/>
          </a:xfrm>
          <a:prstGeom prst="roundRect">
            <a:avLst>
              <a:gd name="adj" fmla="val 1500"/>
            </a:avLst>
          </a:prstGeom>
          <a:solidFill>
            <a:srgbClr val="EAF7FF"/>
          </a:solidFill>
          <a:ln w="18288">
            <a:solidFill>
              <a:srgbClr val="3577B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Loss label"/>
          <p:cNvSpPr txBox="1"/>
          <p:nvPr/>
        </p:nvSpPr>
        <p:spPr>
          <a:xfrm>
            <a:off x="11155680" y="1344168"/>
            <a:ext cx="2606040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71D43"/>
                </a:solidFill>
                <a:latin typeface="Arial"/>
              </a:rPr>
              <a:t>Training loss (clean target)</a:t>
            </a:r>
          </a:p>
        </p:txBody>
      </p:sp>
      <p:sp>
        <p:nvSpPr>
          <p:cNvPr id="30" name="Training loss"/>
          <p:cNvSpPr txBox="1"/>
          <p:nvPr/>
        </p:nvSpPr>
        <p:spPr>
          <a:xfrm>
            <a:off x="11173968" y="1591056"/>
            <a:ext cx="2560320" cy="2834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439" i="1">
                <a:solidFill>
                  <a:srgbClr val="071D43"/>
                </a:solidFill>
                <a:latin typeface="Liberation Serif"/>
              </a:rPr>
              <a:t>ℒ = E[ w(σ) ‖D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θ</a:t>
            </a:r>
            <a:r>
              <a:rPr sz="1439" i="1">
                <a:solidFill>
                  <a:srgbClr val="071D43"/>
                </a:solidFill>
                <a:latin typeface="Liberation Serif"/>
              </a:rPr>
              <a:t>(x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σ</a:t>
            </a:r>
            <a:r>
              <a:rPr sz="1439" i="1">
                <a:solidFill>
                  <a:srgbClr val="071D43"/>
                </a:solidFill>
                <a:latin typeface="Liberation Serif"/>
              </a:rPr>
              <a:t>, σ) − x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0</a:t>
            </a:r>
            <a:r>
              <a:rPr sz="1439" i="1">
                <a:solidFill>
                  <a:srgbClr val="071D43"/>
                </a:solidFill>
                <a:latin typeface="Liberation Serif"/>
              </a:rPr>
              <a:t>‖</a:t>
            </a:r>
            <a:r>
              <a:rPr sz="1007" i="1" baseline="35000">
                <a:solidFill>
                  <a:srgbClr val="071D43"/>
                </a:solidFill>
                <a:latin typeface="Liberation Serif"/>
              </a:rPr>
              <a:t>2</a:t>
            </a:r>
            <a:r>
              <a:rPr sz="1439" i="1">
                <a:solidFill>
                  <a:srgbClr val="071D43"/>
                </a:solidFill>
                <a:latin typeface="Liberation Serif"/>
              </a:rPr>
              <a:t> ]</a:t>
            </a:r>
          </a:p>
        </p:txBody>
      </p:sp>
      <p:sp>
        <p:nvSpPr>
          <p:cNvPr id="31" name="Training arrow 0"/>
          <p:cNvSpPr/>
          <p:nvPr/>
        </p:nvSpPr>
        <p:spPr>
          <a:xfrm>
            <a:off x="2139696" y="1591056"/>
            <a:ext cx="438912" cy="0"/>
          </a:xfrm>
          <a:custGeom>
            <a:avLst/>
            <a:gdLst/>
            <a:ahLst/>
            <a:cxnLst/>
            <a:rect l="l" t="t" r="r" b="b"/>
            <a:pathLst>
              <a:path w="48" h="0">
                <a:moveTo>
                  <a:pt x="0" y="0"/>
                </a:moveTo>
                <a:lnTo>
                  <a:pt x="48" y="0"/>
                </a:lnTo>
              </a:path>
            </a:pathLst>
          </a:custGeom>
          <a:noFill/>
          <a:ln w="18288">
            <a:solidFill>
              <a:srgbClr val="0069C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raining arrow 1"/>
          <p:cNvSpPr/>
          <p:nvPr/>
        </p:nvSpPr>
        <p:spPr>
          <a:xfrm>
            <a:off x="4498848" y="1591056"/>
            <a:ext cx="384048" cy="0"/>
          </a:xfrm>
          <a:custGeom>
            <a:avLst/>
            <a:gdLst/>
            <a:ahLst/>
            <a:cxnLst/>
            <a:rect l="l" t="t" r="r" b="b"/>
            <a:pathLst>
              <a:path w="42" h="0">
                <a:moveTo>
                  <a:pt x="0" y="0"/>
                </a:moveTo>
                <a:lnTo>
                  <a:pt x="42" y="0"/>
                </a:lnTo>
              </a:path>
            </a:pathLst>
          </a:custGeom>
          <a:noFill/>
          <a:ln w="18288">
            <a:solidFill>
              <a:srgbClr val="0069C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raining arrow 2"/>
          <p:cNvSpPr/>
          <p:nvPr/>
        </p:nvSpPr>
        <p:spPr>
          <a:xfrm>
            <a:off x="6025896" y="1591056"/>
            <a:ext cx="722376" cy="0"/>
          </a:xfrm>
          <a:custGeom>
            <a:avLst/>
            <a:gdLst/>
            <a:ahLst/>
            <a:cxnLst/>
            <a:rect l="l" t="t" r="r" b="b"/>
            <a:pathLst>
              <a:path w="79" h="0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8288">
            <a:solidFill>
              <a:srgbClr val="0069C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raining arrow 3"/>
          <p:cNvSpPr/>
          <p:nvPr/>
        </p:nvSpPr>
        <p:spPr>
          <a:xfrm>
            <a:off x="8933688" y="1591056"/>
            <a:ext cx="512064" cy="0"/>
          </a:xfrm>
          <a:custGeom>
            <a:avLst/>
            <a:gdLst/>
            <a:ahLst/>
            <a:cxnLst/>
            <a:rect l="l" t="t" r="r" b="b"/>
            <a:pathLst>
              <a:path w="56" h="0">
                <a:moveTo>
                  <a:pt x="0" y="0"/>
                </a:moveTo>
                <a:lnTo>
                  <a:pt x="56" y="0"/>
                </a:lnTo>
              </a:path>
            </a:pathLst>
          </a:custGeom>
          <a:noFill/>
          <a:ln w="18288">
            <a:solidFill>
              <a:srgbClr val="0069C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raining arrow 4"/>
          <p:cNvSpPr/>
          <p:nvPr/>
        </p:nvSpPr>
        <p:spPr>
          <a:xfrm>
            <a:off x="10625328" y="1591056"/>
            <a:ext cx="429768" cy="0"/>
          </a:xfrm>
          <a:custGeom>
            <a:avLst/>
            <a:gdLst/>
            <a:ahLst/>
            <a:cxnLst/>
            <a:rect l="l" t="t" r="r" b="b"/>
            <a:pathLst>
              <a:path w="47" h="0">
                <a:moveTo>
                  <a:pt x="0" y="0"/>
                </a:moveTo>
                <a:lnTo>
                  <a:pt x="47" y="0"/>
                </a:lnTo>
              </a:path>
            </a:pathLst>
          </a:custGeom>
          <a:noFill/>
          <a:ln w="18288">
            <a:solidFill>
              <a:srgbClr val="0069C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Measured title"/>
          <p:cNvSpPr txBox="1"/>
          <p:nvPr/>
        </p:nvSpPr>
        <p:spPr>
          <a:xfrm>
            <a:off x="594360" y="2889504"/>
            <a:ext cx="2706624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16" b="1" i="0">
                <a:solidFill>
                  <a:srgbClr val="071D43"/>
                </a:solidFill>
                <a:latin typeface="Arial"/>
              </a:rPr>
              <a:t>Measured complex multi-coil SPEN data</a:t>
            </a:r>
          </a:p>
        </p:txBody>
      </p:sp>
      <p:sp>
        <p:nvSpPr>
          <p:cNvPr id="37" name="Observation symbol"/>
          <p:cNvSpPr txBox="1"/>
          <p:nvPr/>
        </p:nvSpPr>
        <p:spPr>
          <a:xfrm>
            <a:off x="3264408" y="2871216"/>
            <a:ext cx="27432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5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655" i="1">
                <a:solidFill>
                  <a:srgbClr val="071D43"/>
                </a:solidFill>
                <a:latin typeface="Liberation Serif"/>
              </a:rPr>
              <a:t>y</a:t>
            </a:r>
          </a:p>
        </p:txBody>
      </p:sp>
      <p:sp>
        <p:nvSpPr>
          <p:cNvPr id="38" name="Measurement domain"/>
          <p:cNvSpPr txBox="1"/>
          <p:nvPr/>
        </p:nvSpPr>
        <p:spPr>
          <a:xfrm>
            <a:off x="585216" y="3081528"/>
            <a:ext cx="2624328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071D43"/>
                </a:solidFill>
                <a:latin typeface="Arial"/>
              </a:rPr>
              <a:t>After scanner phase correction and RO FFT</a:t>
            </a:r>
          </a:p>
        </p:txBody>
      </p:sp>
      <p:pic>
        <p:nvPicPr>
          <p:cNvPr id="39" name="Measured complex coil data" descr="Measured complex coil da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300984"/>
            <a:ext cx="1435608" cy="896112"/>
          </a:xfrm>
          <a:prstGeom prst="rect">
            <a:avLst/>
          </a:prstGeom>
        </p:spPr>
      </p:pic>
      <p:sp>
        <p:nvSpPr>
          <p:cNvPr id="40" name="Measured data dimensions"/>
          <p:cNvSpPr txBox="1"/>
          <p:nvPr/>
        </p:nvSpPr>
        <p:spPr>
          <a:xfrm>
            <a:off x="585216" y="4215384"/>
            <a:ext cx="1527048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296" i="1">
                <a:solidFill>
                  <a:srgbClr val="071D43"/>
                </a:solidFill>
                <a:latin typeface="Liberation Serif"/>
              </a:rPr>
              <a:t>y ∈ ℂ</a:t>
            </a:r>
            <a:r>
              <a:rPr sz="907" i="1" baseline="35000">
                <a:solidFill>
                  <a:srgbClr val="071D43"/>
                </a:solidFill>
                <a:latin typeface="Liberation Serif"/>
              </a:rPr>
              <a:t>Nc × NPE × NRO</a:t>
            </a:r>
          </a:p>
        </p:txBody>
      </p:sp>
      <p:sp>
        <p:nvSpPr>
          <p:cNvPr id="41" name="Acquisition grid label"/>
          <p:cNvSpPr txBox="1"/>
          <p:nvPr/>
        </p:nvSpPr>
        <p:spPr>
          <a:xfrm>
            <a:off x="2176272" y="3282696"/>
            <a:ext cx="1042415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071D43"/>
                </a:solidFill>
                <a:latin typeface="Arial"/>
              </a:rPr>
              <a:t>Acquisition grid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071D43"/>
                </a:solidFill>
                <a:latin typeface="Arial"/>
              </a:rPr>
              <a:t>(e.g., 96 × 96)</a:t>
            </a:r>
          </a:p>
        </p:txBody>
      </p:sp>
      <p:pic>
        <p:nvPicPr>
          <p:cNvPr id="42" name="Acquisition grid" descr="Acquisition gri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1720" y="3611880"/>
            <a:ext cx="749808" cy="676656"/>
          </a:xfrm>
          <a:prstGeom prst="rect">
            <a:avLst/>
          </a:prstGeom>
        </p:spPr>
      </p:pic>
      <p:sp>
        <p:nvSpPr>
          <p:cNvPr id="43" name="Weighted adjoint box"/>
          <p:cNvSpPr/>
          <p:nvPr/>
        </p:nvSpPr>
        <p:spPr>
          <a:xfrm>
            <a:off x="4855464" y="3438144"/>
            <a:ext cx="1143000" cy="557784"/>
          </a:xfrm>
          <a:prstGeom prst="roundRect">
            <a:avLst>
              <a:gd name="adj" fmla="val 1500"/>
            </a:avLst>
          </a:prstGeom>
          <a:solidFill>
            <a:srgbClr val="F7F0FE"/>
          </a:solidFill>
          <a:ln w="14630">
            <a:solidFill>
              <a:srgbClr val="7928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Weighted adjoint title"/>
          <p:cNvSpPr txBox="1"/>
          <p:nvPr/>
        </p:nvSpPr>
        <p:spPr>
          <a:xfrm>
            <a:off x="4919472" y="3538728"/>
            <a:ext cx="1014984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71D43"/>
                </a:solidFill>
                <a:latin typeface="Arial"/>
              </a:rPr>
              <a:t>Weighted InvA</a:t>
            </a:r>
          </a:p>
        </p:txBody>
      </p:sp>
      <p:sp>
        <p:nvSpPr>
          <p:cNvPr id="45" name="Weighted adjoint subtitle"/>
          <p:cNvSpPr txBox="1"/>
          <p:nvPr/>
        </p:nvSpPr>
        <p:spPr>
          <a:xfrm>
            <a:off x="4901184" y="3758184"/>
            <a:ext cx="1060704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7928BA"/>
                </a:solidFill>
                <a:latin typeface="Arial"/>
              </a:rPr>
              <a:t>Weighted adjoint</a:t>
            </a:r>
          </a:p>
        </p:txBody>
      </p:sp>
      <p:sp>
        <p:nvSpPr>
          <p:cNvPr id="46" name="Weighted adjoint equation"/>
          <p:cNvSpPr txBox="1"/>
          <p:nvPr/>
        </p:nvSpPr>
        <p:spPr>
          <a:xfrm>
            <a:off x="4910328" y="4023360"/>
            <a:ext cx="1033271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12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512" i="1">
                <a:solidFill>
                  <a:srgbClr val="071D43"/>
                </a:solidFill>
                <a:latin typeface="Liberation Serif"/>
              </a:rPr>
              <a:t>z</a:t>
            </a:r>
            <a:r>
              <a:rPr sz="1058" i="1" baseline="-22000">
                <a:solidFill>
                  <a:srgbClr val="071D43"/>
                </a:solidFill>
                <a:latin typeface="Liberation Serif"/>
              </a:rPr>
              <a:t>c</a:t>
            </a:r>
            <a:r>
              <a:rPr sz="1512" i="1">
                <a:solidFill>
                  <a:srgbClr val="071D43"/>
                </a:solidFill>
                <a:latin typeface="Liberation Serif"/>
              </a:rPr>
              <a:t> = A</a:t>
            </a:r>
            <a:r>
              <a:rPr sz="1058" i="1" baseline="35000">
                <a:solidFill>
                  <a:srgbClr val="071D43"/>
                </a:solidFill>
                <a:latin typeface="Liberation Serif"/>
              </a:rPr>
              <a:t>H</a:t>
            </a:r>
            <a:r>
              <a:rPr sz="1512" i="1">
                <a:solidFill>
                  <a:srgbClr val="071D43"/>
                </a:solidFill>
                <a:latin typeface="Liberation Serif"/>
              </a:rPr>
              <a:t> W y</a:t>
            </a:r>
          </a:p>
        </p:txBody>
      </p:sp>
      <p:pic>
        <p:nvPicPr>
          <p:cNvPr id="47" name="Complex coil images" descr="Complex coil imag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7064" y="3236976"/>
            <a:ext cx="923544" cy="859536"/>
          </a:xfrm>
          <a:prstGeom prst="rect">
            <a:avLst/>
          </a:prstGeom>
        </p:spPr>
      </p:pic>
      <p:sp>
        <p:nvSpPr>
          <p:cNvPr id="48" name="Coil image title"/>
          <p:cNvSpPr txBox="1"/>
          <p:nvPr/>
        </p:nvSpPr>
        <p:spPr>
          <a:xfrm>
            <a:off x="6025896" y="2935224"/>
            <a:ext cx="1664208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71D43"/>
                </a:solidFill>
                <a:latin typeface="Arial"/>
              </a:rPr>
              <a:t>Complex coil images</a:t>
            </a:r>
          </a:p>
        </p:txBody>
      </p:sp>
      <p:sp>
        <p:nvSpPr>
          <p:cNvPr id="49" name="Coil symbol"/>
          <p:cNvSpPr txBox="1"/>
          <p:nvPr/>
        </p:nvSpPr>
        <p:spPr>
          <a:xfrm>
            <a:off x="6455664" y="4078224"/>
            <a:ext cx="457200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439" i="1">
                <a:solidFill>
                  <a:srgbClr val="071D43"/>
                </a:solidFill>
                <a:latin typeface="Liberation Serif"/>
              </a:rPr>
              <a:t>z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c</a:t>
            </a:r>
          </a:p>
        </p:txBody>
      </p:sp>
      <p:sp>
        <p:nvSpPr>
          <p:cNvPr id="50" name="Coil normalization box"/>
          <p:cNvSpPr/>
          <p:nvPr/>
        </p:nvSpPr>
        <p:spPr>
          <a:xfrm>
            <a:off x="7415783" y="3438144"/>
            <a:ext cx="1106424" cy="557784"/>
          </a:xfrm>
          <a:prstGeom prst="roundRect">
            <a:avLst>
              <a:gd name="adj" fmla="val 1500"/>
            </a:avLst>
          </a:prstGeom>
          <a:solidFill>
            <a:srgbClr val="F8F2FE"/>
          </a:solidFill>
          <a:ln w="14630">
            <a:solidFill>
              <a:srgbClr val="7928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Coil normalization equation"/>
          <p:cNvSpPr txBox="1"/>
          <p:nvPr/>
        </p:nvSpPr>
        <p:spPr>
          <a:xfrm>
            <a:off x="7461504" y="3557016"/>
            <a:ext cx="1005840" cy="31089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296" i="1">
                <a:solidFill>
                  <a:srgbClr val="071D43"/>
                </a:solidFill>
                <a:latin typeface="Liberation Serif"/>
              </a:rPr>
              <a:t>Ŝ</a:t>
            </a:r>
            <a:r>
              <a:rPr sz="907" i="1" baseline="-22000">
                <a:solidFill>
                  <a:srgbClr val="071D43"/>
                </a:solidFill>
                <a:latin typeface="Liberation Serif"/>
              </a:rPr>
              <a:t>c</a:t>
            </a:r>
            <a:r>
              <a:rPr sz="1296" i="1">
                <a:solidFill>
                  <a:srgbClr val="071D43"/>
                </a:solidFill>
                <a:latin typeface="Liberation Serif"/>
              </a:rPr>
              <a:t> = z</a:t>
            </a:r>
            <a:r>
              <a:rPr sz="907" i="1" baseline="-22000">
                <a:solidFill>
                  <a:srgbClr val="071D43"/>
                </a:solidFill>
                <a:latin typeface="Liberation Serif"/>
              </a:rPr>
              <a:t>c</a:t>
            </a:r>
            <a:r>
              <a:rPr sz="1296" i="1">
                <a:solidFill>
                  <a:srgbClr val="071D43"/>
                </a:solidFill>
                <a:latin typeface="Liberation Serif"/>
              </a:rPr>
              <a:t> / RSS(z)</a:t>
            </a:r>
          </a:p>
        </p:txBody>
      </p:sp>
      <p:sp>
        <p:nvSpPr>
          <p:cNvPr id="52" name="Coil interpolation note"/>
          <p:cNvSpPr txBox="1"/>
          <p:nvPr/>
        </p:nvSpPr>
        <p:spPr>
          <a:xfrm>
            <a:off x="7315200" y="4032504"/>
            <a:ext cx="1325880" cy="29260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071D43"/>
                </a:solidFill>
                <a:latin typeface="Arial"/>
              </a:rPr>
              <a:t>Interpolate and normalize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071D43"/>
                </a:solidFill>
                <a:latin typeface="Arial"/>
              </a:rPr>
              <a:t>for finer grids</a:t>
            </a:r>
          </a:p>
        </p:txBody>
      </p:sp>
      <p:sp>
        <p:nvSpPr>
          <p:cNvPr id="53" name="Fixed maps boundary"/>
          <p:cNvSpPr/>
          <p:nvPr/>
        </p:nvSpPr>
        <p:spPr>
          <a:xfrm>
            <a:off x="8705088" y="3172968"/>
            <a:ext cx="2340864" cy="1152144"/>
          </a:xfrm>
          <a:prstGeom prst="roundRect">
            <a:avLst>
              <a:gd name="adj" fmla="val 1500"/>
            </a:avLst>
          </a:prstGeom>
          <a:noFill/>
          <a:ln w="13716">
            <a:solidFill>
              <a:srgbClr val="7928B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Fixed maps title"/>
          <p:cNvSpPr txBox="1"/>
          <p:nvPr/>
        </p:nvSpPr>
        <p:spPr>
          <a:xfrm>
            <a:off x="8138160" y="2798064"/>
            <a:ext cx="3099816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7928BA"/>
                </a:solidFill>
                <a:latin typeface="Arial"/>
              </a:rPr>
              <a:t>Fixed complex coil fractions: coil + object phase</a:t>
            </a:r>
          </a:p>
        </p:txBody>
      </p:sp>
      <p:sp>
        <p:nvSpPr>
          <p:cNvPr id="55" name="Fixed maps source"/>
          <p:cNvSpPr txBox="1"/>
          <p:nvPr/>
        </p:nvSpPr>
        <p:spPr>
          <a:xfrm>
            <a:off x="8631936" y="2971800"/>
            <a:ext cx="2121408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36" b="0" i="0">
                <a:solidFill>
                  <a:srgbClr val="7928BA"/>
                </a:solidFill>
                <a:latin typeface="Arial"/>
              </a:rPr>
              <a:t>(derived from measurements)</a:t>
            </a:r>
          </a:p>
        </p:txBody>
      </p:sp>
      <p:pic>
        <p:nvPicPr>
          <p:cNvPr id="56" name="Coil magnitude map" descr="Coil magnitude m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5672" y="3438144"/>
            <a:ext cx="932688" cy="822960"/>
          </a:xfrm>
          <a:prstGeom prst="rect">
            <a:avLst/>
          </a:prstGeom>
        </p:spPr>
      </p:pic>
      <p:pic>
        <p:nvPicPr>
          <p:cNvPr id="57" name="Coil phase map" descr="Coil phase ma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0384" y="3438144"/>
            <a:ext cx="777240" cy="822960"/>
          </a:xfrm>
          <a:prstGeom prst="rect">
            <a:avLst/>
          </a:prstGeom>
        </p:spPr>
      </p:pic>
      <p:pic>
        <p:nvPicPr>
          <p:cNvPr id="58" name="Coil phase colorbar" descr="Coil phase colorb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71632" y="3429000"/>
            <a:ext cx="228600" cy="850392"/>
          </a:xfrm>
          <a:prstGeom prst="rect">
            <a:avLst/>
          </a:prstGeom>
        </p:spPr>
      </p:pic>
      <p:sp>
        <p:nvSpPr>
          <p:cNvPr id="59" name="Map magnitude label"/>
          <p:cNvSpPr txBox="1"/>
          <p:nvPr/>
        </p:nvSpPr>
        <p:spPr>
          <a:xfrm>
            <a:off x="8805672" y="3200400"/>
            <a:ext cx="923544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071D43"/>
                </a:solidFill>
                <a:latin typeface="Arial"/>
              </a:rPr>
              <a:t>Magnitude |Ŝ꜀|</a:t>
            </a:r>
          </a:p>
        </p:txBody>
      </p:sp>
      <p:sp>
        <p:nvSpPr>
          <p:cNvPr id="60" name="Map phase label"/>
          <p:cNvSpPr txBox="1"/>
          <p:nvPr/>
        </p:nvSpPr>
        <p:spPr>
          <a:xfrm>
            <a:off x="9902952" y="3200400"/>
            <a:ext cx="841248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071D43"/>
                </a:solidFill>
                <a:latin typeface="Arial"/>
              </a:rPr>
              <a:t>Phase ∠Ŝ꜀</a:t>
            </a:r>
          </a:p>
        </p:txBody>
      </p:sp>
      <p:sp>
        <p:nvSpPr>
          <p:cNvPr id="61" name="Calibration arrow 0"/>
          <p:cNvSpPr/>
          <p:nvPr/>
        </p:nvSpPr>
        <p:spPr>
          <a:xfrm>
            <a:off x="3145536" y="3749040"/>
            <a:ext cx="1709928" cy="0"/>
          </a:xfrm>
          <a:custGeom>
            <a:avLst/>
            <a:gdLst/>
            <a:ahLst/>
            <a:cxnLst/>
            <a:rect l="l" t="t" r="r" b="b"/>
            <a:pathLst>
              <a:path w="187" h="0">
                <a:moveTo>
                  <a:pt x="0" y="0"/>
                </a:moveTo>
                <a:lnTo>
                  <a:pt x="187" y="0"/>
                </a:lnTo>
              </a:path>
            </a:pathLst>
          </a:custGeom>
          <a:noFill/>
          <a:ln w="13716">
            <a:solidFill>
              <a:srgbClr val="7928B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Calibration arrow 1"/>
          <p:cNvSpPr/>
          <p:nvPr/>
        </p:nvSpPr>
        <p:spPr>
          <a:xfrm>
            <a:off x="6016752" y="3749040"/>
            <a:ext cx="201168" cy="0"/>
          </a:xfrm>
          <a:custGeom>
            <a:avLst/>
            <a:gdLst/>
            <a:ahLst/>
            <a:cxnLst/>
            <a:rect l="l" t="t" r="r" b="b"/>
            <a:pathLst>
              <a:path w="22" h="0">
                <a:moveTo>
                  <a:pt x="0" y="0"/>
                </a:moveTo>
                <a:lnTo>
                  <a:pt x="22" y="0"/>
                </a:lnTo>
              </a:path>
            </a:pathLst>
          </a:custGeom>
          <a:noFill/>
          <a:ln w="13716">
            <a:solidFill>
              <a:srgbClr val="7928B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Calibration arrow 2"/>
          <p:cNvSpPr/>
          <p:nvPr/>
        </p:nvSpPr>
        <p:spPr>
          <a:xfrm>
            <a:off x="7159752" y="3749040"/>
            <a:ext cx="237744" cy="0"/>
          </a:xfrm>
          <a:custGeom>
            <a:avLst/>
            <a:gdLst/>
            <a:ahLst/>
            <a:cxnLst/>
            <a:rect l="l" t="t" r="r" b="b"/>
            <a:pathLst>
              <a:path w="26" h="0">
                <a:moveTo>
                  <a:pt x="0" y="0"/>
                </a:moveTo>
                <a:lnTo>
                  <a:pt x="26" y="0"/>
                </a:lnTo>
              </a:path>
            </a:pathLst>
          </a:custGeom>
          <a:noFill/>
          <a:ln w="13716">
            <a:solidFill>
              <a:srgbClr val="7928B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Calibration arrow 3"/>
          <p:cNvSpPr/>
          <p:nvPr/>
        </p:nvSpPr>
        <p:spPr>
          <a:xfrm>
            <a:off x="8540496" y="3749040"/>
            <a:ext cx="155448" cy="0"/>
          </a:xfrm>
          <a:custGeom>
            <a:avLst/>
            <a:gdLst/>
            <a:ahLst/>
            <a:cxnLst/>
            <a:rect l="l" t="t" r="r" b="b"/>
            <a:pathLst>
              <a:path w="17" h="0">
                <a:moveTo>
                  <a:pt x="0" y="0"/>
                </a:moveTo>
                <a:lnTo>
                  <a:pt x="17" y="0"/>
                </a:lnTo>
              </a:path>
            </a:pathLst>
          </a:custGeom>
          <a:noFill/>
          <a:ln w="13716">
            <a:solidFill>
              <a:srgbClr val="7928B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Frozen weights transfer"/>
          <p:cNvSpPr/>
          <p:nvPr/>
        </p:nvSpPr>
        <p:spPr>
          <a:xfrm>
            <a:off x="4105656" y="1892808"/>
            <a:ext cx="3630168" cy="3090672"/>
          </a:xfrm>
          <a:custGeom>
            <a:avLst/>
            <a:gdLst/>
            <a:ahLst/>
            <a:cxnLst/>
            <a:rect l="l" t="t" r="r" b="b"/>
            <a:pathLst>
              <a:path w="397" h="338">
                <a:moveTo>
                  <a:pt x="397" y="0"/>
                </a:moveTo>
                <a:lnTo>
                  <a:pt x="397" y="82"/>
                </a:lnTo>
                <a:lnTo>
                  <a:pt x="54" y="82"/>
                </a:lnTo>
                <a:lnTo>
                  <a:pt x="54" y="290"/>
                </a:lnTo>
                <a:lnTo>
                  <a:pt x="0" y="290"/>
                </a:lnTo>
                <a:lnTo>
                  <a:pt x="0" y="338"/>
                </a:lnTo>
              </a:path>
            </a:pathLst>
          </a:custGeom>
          <a:noFill/>
          <a:ln w="27432">
            <a:solidFill>
              <a:srgbClr val="063D92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Freeze weights annotation"/>
          <p:cNvSpPr txBox="1"/>
          <p:nvPr/>
        </p:nvSpPr>
        <p:spPr>
          <a:xfrm>
            <a:off x="7854696" y="2167128"/>
            <a:ext cx="1609344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00589E"/>
                </a:solidFill>
                <a:latin typeface="Arial"/>
              </a:rPr>
              <a:t>Freeze trained weights</a:t>
            </a:r>
          </a:p>
        </p:txBody>
      </p:sp>
      <p:sp>
        <p:nvSpPr>
          <p:cNvPr id="67" name="Observation data consistency link"/>
          <p:cNvSpPr/>
          <p:nvPr/>
        </p:nvSpPr>
        <p:spPr>
          <a:xfrm>
            <a:off x="2715768" y="4325112"/>
            <a:ext cx="7626096" cy="91440"/>
          </a:xfrm>
          <a:custGeom>
            <a:avLst/>
            <a:gdLst/>
            <a:ahLst/>
            <a:cxnLst/>
            <a:rect l="l" t="t" r="r" b="b"/>
            <a:pathLst>
              <a:path w="834" h="10">
                <a:moveTo>
                  <a:pt x="0" y="0"/>
                </a:moveTo>
                <a:lnTo>
                  <a:pt x="0" y="10"/>
                </a:lnTo>
                <a:lnTo>
                  <a:pt x="834" y="10"/>
                </a:lnTo>
                <a:lnTo>
                  <a:pt x="834" y="0"/>
                </a:lnTo>
              </a:path>
            </a:pathLst>
          </a:custGeom>
          <a:noFill/>
          <a:ln w="13716">
            <a:solidFill>
              <a:srgbClr val="7928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Observation into consistency"/>
          <p:cNvSpPr/>
          <p:nvPr/>
        </p:nvSpPr>
        <p:spPr>
          <a:xfrm>
            <a:off x="4599432" y="4544568"/>
            <a:ext cx="3968496" cy="457200"/>
          </a:xfrm>
          <a:custGeom>
            <a:avLst/>
            <a:gdLst/>
            <a:ahLst/>
            <a:cxnLst/>
            <a:rect l="l" t="t" r="r" b="b"/>
            <a:pathLst>
              <a:path w="434" h="50">
                <a:moveTo>
                  <a:pt x="0" y="0"/>
                </a:moveTo>
                <a:lnTo>
                  <a:pt x="434" y="0"/>
                </a:lnTo>
                <a:lnTo>
                  <a:pt x="434" y="50"/>
                </a:lnTo>
              </a:path>
            </a:pathLst>
          </a:custGeom>
          <a:noFill/>
          <a:ln w="15544">
            <a:solidFill>
              <a:srgbClr val="7928B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y on observation branch"/>
          <p:cNvSpPr txBox="1"/>
          <p:nvPr/>
        </p:nvSpPr>
        <p:spPr>
          <a:xfrm>
            <a:off x="8613648" y="4489704"/>
            <a:ext cx="283464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84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584" i="1">
                <a:solidFill>
                  <a:srgbClr val="071D43"/>
                </a:solidFill>
                <a:latin typeface="Liberation Serif"/>
              </a:rPr>
              <a:t>y</a:t>
            </a:r>
          </a:p>
        </p:txBody>
      </p:sp>
      <p:pic>
        <p:nvPicPr>
          <p:cNvPr id="70" name="Gaussian sampling initialization" descr="Gaussian sampling initializati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3504" y="5056632"/>
            <a:ext cx="1106424" cy="777240"/>
          </a:xfrm>
          <a:prstGeom prst="rect">
            <a:avLst/>
          </a:prstGeom>
        </p:spPr>
      </p:pic>
      <p:sp>
        <p:nvSpPr>
          <p:cNvPr id="71" name="Sampling initialization label"/>
          <p:cNvSpPr txBox="1"/>
          <p:nvPr/>
        </p:nvSpPr>
        <p:spPr>
          <a:xfrm>
            <a:off x="374904" y="4654296"/>
            <a:ext cx="15544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071D43"/>
                </a:solidFill>
                <a:latin typeface="Arial"/>
              </a:rPr>
              <a:t>Gaussian initialization</a:t>
            </a:r>
          </a:p>
        </p:txBody>
      </p:sp>
      <p:sp>
        <p:nvSpPr>
          <p:cNvPr id="72" name="Sampling initialization distribution"/>
          <p:cNvSpPr txBox="1"/>
          <p:nvPr/>
        </p:nvSpPr>
        <p:spPr>
          <a:xfrm>
            <a:off x="603504" y="4846320"/>
            <a:ext cx="1124712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296" i="1">
                <a:solidFill>
                  <a:srgbClr val="071D43"/>
                </a:solidFill>
                <a:latin typeface="Liberation Serif"/>
              </a:rPr>
              <a:t>x</a:t>
            </a:r>
            <a:r>
              <a:rPr sz="907" i="1" baseline="-22000">
                <a:solidFill>
                  <a:srgbClr val="071D43"/>
                </a:solidFill>
                <a:latin typeface="Liberation Serif"/>
              </a:rPr>
              <a:t>T</a:t>
            </a:r>
            <a:r>
              <a:rPr sz="1296" i="1">
                <a:solidFill>
                  <a:srgbClr val="071D43"/>
                </a:solidFill>
                <a:latin typeface="Liberation Serif"/>
              </a:rPr>
              <a:t> ∼ N(0, I)</a:t>
            </a:r>
          </a:p>
        </p:txBody>
      </p:sp>
      <p:sp>
        <p:nvSpPr>
          <p:cNvPr id="73" name="Frozen denoiser box"/>
          <p:cNvSpPr/>
          <p:nvPr/>
        </p:nvSpPr>
        <p:spPr>
          <a:xfrm>
            <a:off x="3145536" y="4983480"/>
            <a:ext cx="1984248" cy="704088"/>
          </a:xfrm>
          <a:prstGeom prst="roundRect">
            <a:avLst>
              <a:gd name="adj" fmla="val 1500"/>
            </a:avLst>
          </a:prstGeom>
          <a:solidFill>
            <a:srgbClr val="C5E5FF"/>
          </a:solidFill>
          <a:ln w="23774">
            <a:solidFill>
              <a:srgbClr val="0069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Frozen denoiser label"/>
          <p:cNvSpPr txBox="1"/>
          <p:nvPr/>
        </p:nvSpPr>
        <p:spPr>
          <a:xfrm>
            <a:off x="3246120" y="5129784"/>
            <a:ext cx="178308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71D43"/>
                </a:solidFill>
                <a:latin typeface="Arial"/>
              </a:rPr>
              <a:t>Frozen denoiser</a:t>
            </a:r>
          </a:p>
        </p:txBody>
      </p:sp>
      <p:sp>
        <p:nvSpPr>
          <p:cNvPr id="75" name="Frozen denoiser formula"/>
          <p:cNvSpPr txBox="1"/>
          <p:nvPr/>
        </p:nvSpPr>
        <p:spPr>
          <a:xfrm>
            <a:off x="3538728" y="5349240"/>
            <a:ext cx="1207008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8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728" i="1">
                <a:solidFill>
                  <a:srgbClr val="071D43"/>
                </a:solidFill>
                <a:latin typeface="Liberation Serif"/>
              </a:rPr>
              <a:t>D</a:t>
            </a:r>
            <a:r>
              <a:rPr sz="1209" i="1" baseline="-22000">
                <a:solidFill>
                  <a:srgbClr val="071D43"/>
                </a:solidFill>
                <a:latin typeface="Liberation Serif"/>
              </a:rPr>
              <a:t>θ</a:t>
            </a:r>
            <a:r>
              <a:rPr sz="1728" i="1">
                <a:solidFill>
                  <a:srgbClr val="071D43"/>
                </a:solidFill>
                <a:latin typeface="Liberation Serif"/>
              </a:rPr>
              <a:t>(x, σ)</a:t>
            </a:r>
          </a:p>
        </p:txBody>
      </p:sp>
      <p:pic>
        <p:nvPicPr>
          <p:cNvPr id="76" name="Clean sampling estimate" descr="Clean sampling estima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32704" y="5020056"/>
            <a:ext cx="1005840" cy="749808"/>
          </a:xfrm>
          <a:prstGeom prst="rect">
            <a:avLst/>
          </a:prstGeom>
        </p:spPr>
      </p:pic>
      <p:sp>
        <p:nvSpPr>
          <p:cNvPr id="77" name="Clean estimate label"/>
          <p:cNvSpPr txBox="1"/>
          <p:nvPr/>
        </p:nvSpPr>
        <p:spPr>
          <a:xfrm>
            <a:off x="5614416" y="4709160"/>
            <a:ext cx="1033271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71D43"/>
                </a:solidFill>
                <a:latin typeface="Arial"/>
              </a:rPr>
              <a:t>Clean estimate</a:t>
            </a:r>
          </a:p>
        </p:txBody>
      </p:sp>
      <p:sp>
        <p:nvSpPr>
          <p:cNvPr id="78" name="Clean estimate symbol"/>
          <p:cNvSpPr txBox="1"/>
          <p:nvPr/>
        </p:nvSpPr>
        <p:spPr>
          <a:xfrm>
            <a:off x="5833872" y="4846320"/>
            <a:ext cx="585216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439" i="1">
                <a:solidFill>
                  <a:srgbClr val="071D43"/>
                </a:solidFill>
                <a:latin typeface="Liberation Serif"/>
              </a:rPr>
              <a:t>x̂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0</a:t>
            </a:r>
          </a:p>
        </p:txBody>
      </p:sp>
      <p:sp>
        <p:nvSpPr>
          <p:cNvPr id="79" name="Data consistency box"/>
          <p:cNvSpPr/>
          <p:nvPr/>
        </p:nvSpPr>
        <p:spPr>
          <a:xfrm>
            <a:off x="7589520" y="5010912"/>
            <a:ext cx="1892807" cy="539496"/>
          </a:xfrm>
          <a:prstGeom prst="roundRect">
            <a:avLst>
              <a:gd name="adj" fmla="val 1500"/>
            </a:avLst>
          </a:prstGeom>
          <a:solidFill>
            <a:srgbClr val="FFDCBA"/>
          </a:solidFill>
          <a:ln w="27432">
            <a:solidFill>
              <a:srgbClr val="F87C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Data consistency label"/>
          <p:cNvSpPr txBox="1"/>
          <p:nvPr/>
        </p:nvSpPr>
        <p:spPr>
          <a:xfrm>
            <a:off x="7699248" y="5166360"/>
            <a:ext cx="1682496" cy="25603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8" b="1" i="0">
                <a:solidFill>
                  <a:srgbClr val="071D43"/>
                </a:solidFill>
                <a:latin typeface="Arial"/>
              </a:rPr>
              <a:t>Data consistency</a:t>
            </a:r>
          </a:p>
        </p:txBody>
      </p:sp>
      <p:sp>
        <p:nvSpPr>
          <p:cNvPr id="81" name="Data consistency objective"/>
          <p:cNvSpPr txBox="1"/>
          <p:nvPr/>
        </p:nvSpPr>
        <p:spPr>
          <a:xfrm>
            <a:off x="6995160" y="5568696"/>
            <a:ext cx="3145536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96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296" i="1">
                <a:solidFill>
                  <a:srgbClr val="071D43"/>
                </a:solidFill>
                <a:latin typeface="Liberation Serif"/>
              </a:rPr>
              <a:t>x</a:t>
            </a:r>
            <a:r>
              <a:rPr sz="907" i="1" baseline="-22000">
                <a:solidFill>
                  <a:srgbClr val="071D43"/>
                </a:solidFill>
                <a:latin typeface="Liberation Serif"/>
              </a:rPr>
              <a:t>DC</a:t>
            </a:r>
            <a:r>
              <a:rPr sz="1296" i="1">
                <a:solidFill>
                  <a:srgbClr val="071D43"/>
                </a:solidFill>
                <a:latin typeface="Liberation Serif"/>
              </a:rPr>
              <a:t> = arg min</a:t>
            </a:r>
            <a:r>
              <a:rPr sz="907" i="1" baseline="-22000">
                <a:solidFill>
                  <a:srgbClr val="071D43"/>
                </a:solidFill>
                <a:latin typeface="Liberation Serif"/>
              </a:rPr>
              <a:t>x</a:t>
            </a:r>
            <a:r>
              <a:rPr sz="1296" i="1">
                <a:solidFill>
                  <a:srgbClr val="071D43"/>
                </a:solidFill>
                <a:latin typeface="Liberation Serif"/>
              </a:rPr>
              <a:t> ‖F(x) − y‖</a:t>
            </a:r>
            <a:r>
              <a:rPr sz="907" i="1" baseline="35000">
                <a:solidFill>
                  <a:srgbClr val="071D43"/>
                </a:solidFill>
                <a:latin typeface="Liberation Serif"/>
              </a:rPr>
              <a:t>2</a:t>
            </a:r>
            <a:r>
              <a:rPr sz="1296" i="1">
                <a:solidFill>
                  <a:srgbClr val="071D43"/>
                </a:solidFill>
                <a:latin typeface="Liberation Serif"/>
              </a:rPr>
              <a:t> + ρ</a:t>
            </a:r>
            <a:r>
              <a:rPr sz="907" i="1" baseline="-22000">
                <a:solidFill>
                  <a:srgbClr val="071D43"/>
                </a:solidFill>
                <a:latin typeface="Liberation Serif"/>
              </a:rPr>
              <a:t>σ</a:t>
            </a:r>
            <a:r>
              <a:rPr sz="1296" i="1">
                <a:solidFill>
                  <a:srgbClr val="071D43"/>
                </a:solidFill>
                <a:latin typeface="Liberation Serif"/>
              </a:rPr>
              <a:t> ‖x − x̂</a:t>
            </a:r>
            <a:r>
              <a:rPr sz="907" i="1" baseline="-22000">
                <a:solidFill>
                  <a:srgbClr val="071D43"/>
                </a:solidFill>
                <a:latin typeface="Liberation Serif"/>
              </a:rPr>
              <a:t>0</a:t>
            </a:r>
            <a:r>
              <a:rPr sz="1296" i="1">
                <a:solidFill>
                  <a:srgbClr val="071D43"/>
                </a:solidFill>
                <a:latin typeface="Liberation Serif"/>
              </a:rPr>
              <a:t>‖</a:t>
            </a:r>
            <a:r>
              <a:rPr sz="907" i="1" baseline="35000">
                <a:solidFill>
                  <a:srgbClr val="071D43"/>
                </a:solidFill>
                <a:latin typeface="Liberation Serif"/>
              </a:rPr>
              <a:t>2</a:t>
            </a:r>
          </a:p>
        </p:txBody>
      </p:sp>
      <p:sp>
        <p:nvSpPr>
          <p:cNvPr id="82" name="Diffusion update box"/>
          <p:cNvSpPr/>
          <p:nvPr/>
        </p:nvSpPr>
        <p:spPr>
          <a:xfrm>
            <a:off x="10451592" y="4974336"/>
            <a:ext cx="1627632" cy="658368"/>
          </a:xfrm>
          <a:prstGeom prst="roundRect">
            <a:avLst>
              <a:gd name="adj" fmla="val 1500"/>
            </a:avLst>
          </a:prstGeom>
          <a:solidFill>
            <a:srgbClr val="C6E7FF"/>
          </a:solidFill>
          <a:ln w="18288">
            <a:solidFill>
              <a:srgbClr val="0069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Diffusion update label"/>
          <p:cNvSpPr txBox="1"/>
          <p:nvPr/>
        </p:nvSpPr>
        <p:spPr>
          <a:xfrm>
            <a:off x="10533888" y="5111496"/>
            <a:ext cx="146304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4" b="1" i="0">
                <a:solidFill>
                  <a:srgbClr val="071D43"/>
                </a:solidFill>
                <a:latin typeface="Arial"/>
              </a:rPr>
              <a:t>Diffusion update</a:t>
            </a:r>
          </a:p>
        </p:txBody>
      </p:sp>
      <p:sp>
        <p:nvSpPr>
          <p:cNvPr id="84" name="Next sample"/>
          <p:cNvSpPr txBox="1"/>
          <p:nvPr/>
        </p:nvSpPr>
        <p:spPr>
          <a:xfrm>
            <a:off x="10881360" y="5321808"/>
            <a:ext cx="768096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9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439" i="1">
                <a:solidFill>
                  <a:srgbClr val="071D43"/>
                </a:solidFill>
                <a:latin typeface="Liberation Serif"/>
              </a:rPr>
              <a:t>x</a:t>
            </a:r>
            <a:r>
              <a:rPr sz="1007" i="1" baseline="-22000">
                <a:solidFill>
                  <a:srgbClr val="071D43"/>
                </a:solidFill>
                <a:latin typeface="Liberation Serif"/>
              </a:rPr>
              <a:t>t−1</a:t>
            </a:r>
          </a:p>
        </p:txBody>
      </p:sp>
      <p:pic>
        <p:nvPicPr>
          <p:cNvPr id="85" name="Final reconstruction" descr="Final reconstructio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10744" y="5010912"/>
            <a:ext cx="1133856" cy="841248"/>
          </a:xfrm>
          <a:prstGeom prst="rect">
            <a:avLst/>
          </a:prstGeom>
        </p:spPr>
      </p:pic>
      <p:sp>
        <p:nvSpPr>
          <p:cNvPr id="86" name="Reconstruction label"/>
          <p:cNvSpPr txBox="1"/>
          <p:nvPr/>
        </p:nvSpPr>
        <p:spPr>
          <a:xfrm>
            <a:off x="12847320" y="4626864"/>
            <a:ext cx="1060704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8" b="1" i="0">
                <a:solidFill>
                  <a:srgbClr val="071D43"/>
                </a:solidFill>
                <a:latin typeface="Arial"/>
              </a:rPr>
              <a:t>Reconstruction</a:t>
            </a:r>
          </a:p>
        </p:txBody>
      </p:sp>
      <p:sp>
        <p:nvSpPr>
          <p:cNvPr id="87" name="Reconstruction scaling"/>
          <p:cNvSpPr txBox="1"/>
          <p:nvPr/>
        </p:nvSpPr>
        <p:spPr>
          <a:xfrm>
            <a:off x="12829032" y="4809744"/>
            <a:ext cx="1106424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2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152" i="1">
                <a:solidFill>
                  <a:srgbClr val="071D43"/>
                </a:solidFill>
                <a:latin typeface="Liberation Serif"/>
              </a:rPr>
              <a:t>m = (x + 1)/2</a:t>
            </a:r>
          </a:p>
        </p:txBody>
      </p:sp>
      <p:sp>
        <p:nvSpPr>
          <p:cNvPr id="88" name="Sampling arrow 0"/>
          <p:cNvSpPr/>
          <p:nvPr/>
        </p:nvSpPr>
        <p:spPr>
          <a:xfrm>
            <a:off x="1755648" y="5340096"/>
            <a:ext cx="1353312" cy="0"/>
          </a:xfrm>
          <a:custGeom>
            <a:avLst/>
            <a:gdLst/>
            <a:ahLst/>
            <a:cxnLst/>
            <a:rect l="l" t="t" r="r" b="b"/>
            <a:pathLst>
              <a:path w="148" h="0">
                <a:moveTo>
                  <a:pt x="0" y="0"/>
                </a:moveTo>
                <a:lnTo>
                  <a:pt x="148" y="0"/>
                </a:lnTo>
              </a:path>
            </a:pathLst>
          </a:custGeom>
          <a:noFill/>
          <a:ln w="18288">
            <a:solidFill>
              <a:srgbClr val="0069C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Sampling arrow 1"/>
          <p:cNvSpPr/>
          <p:nvPr/>
        </p:nvSpPr>
        <p:spPr>
          <a:xfrm>
            <a:off x="5166360" y="5340096"/>
            <a:ext cx="448056" cy="0"/>
          </a:xfrm>
          <a:custGeom>
            <a:avLst/>
            <a:gdLst/>
            <a:ahLst/>
            <a:cxnLst/>
            <a:rect l="l" t="t" r="r" b="b"/>
            <a:pathLst>
              <a:path w="49" h="0">
                <a:moveTo>
                  <a:pt x="0" y="0"/>
                </a:moveTo>
                <a:lnTo>
                  <a:pt x="49" y="0"/>
                </a:lnTo>
              </a:path>
            </a:pathLst>
          </a:custGeom>
          <a:noFill/>
          <a:ln w="18288">
            <a:solidFill>
              <a:srgbClr val="0069C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Sampling arrow 2"/>
          <p:cNvSpPr/>
          <p:nvPr/>
        </p:nvSpPr>
        <p:spPr>
          <a:xfrm>
            <a:off x="6693408" y="5340096"/>
            <a:ext cx="868680" cy="0"/>
          </a:xfrm>
          <a:custGeom>
            <a:avLst/>
            <a:gdLst/>
            <a:ahLst/>
            <a:cxnLst/>
            <a:rect l="l" t="t" r="r" b="b"/>
            <a:pathLst>
              <a:path w="95" h="0">
                <a:moveTo>
                  <a:pt x="0" y="0"/>
                </a:moveTo>
                <a:lnTo>
                  <a:pt x="95" y="0"/>
                </a:lnTo>
              </a:path>
            </a:pathLst>
          </a:custGeom>
          <a:noFill/>
          <a:ln w="18288">
            <a:solidFill>
              <a:srgbClr val="0069C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Sampling arrow 3"/>
          <p:cNvSpPr/>
          <p:nvPr/>
        </p:nvSpPr>
        <p:spPr>
          <a:xfrm>
            <a:off x="9528048" y="5340096"/>
            <a:ext cx="896112" cy="0"/>
          </a:xfrm>
          <a:custGeom>
            <a:avLst/>
            <a:gdLst/>
            <a:ahLst/>
            <a:cxnLst/>
            <a:rect l="l" t="t" r="r" b="b"/>
            <a:pathLst>
              <a:path w="98" h="0">
                <a:moveTo>
                  <a:pt x="0" y="0"/>
                </a:moveTo>
                <a:lnTo>
                  <a:pt x="98" y="0"/>
                </a:lnTo>
              </a:path>
            </a:pathLst>
          </a:custGeom>
          <a:noFill/>
          <a:ln w="18288">
            <a:solidFill>
              <a:srgbClr val="0069C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Sampling arrow 4"/>
          <p:cNvSpPr/>
          <p:nvPr/>
        </p:nvSpPr>
        <p:spPr>
          <a:xfrm>
            <a:off x="12124944" y="5340096"/>
            <a:ext cx="649224" cy="0"/>
          </a:xfrm>
          <a:custGeom>
            <a:avLst/>
            <a:gdLst/>
            <a:ahLst/>
            <a:cxnLst/>
            <a:rect l="l" t="t" r="r" b="b"/>
            <a:pathLst>
              <a:path w="71" h="0">
                <a:moveTo>
                  <a:pt x="0" y="0"/>
                </a:moveTo>
                <a:lnTo>
                  <a:pt x="71" y="0"/>
                </a:lnTo>
              </a:path>
            </a:pathLst>
          </a:custGeom>
          <a:noFill/>
          <a:ln w="18288">
            <a:solidFill>
              <a:srgbClr val="0069CF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Diffusion sampling loop"/>
          <p:cNvSpPr/>
          <p:nvPr/>
        </p:nvSpPr>
        <p:spPr>
          <a:xfrm>
            <a:off x="4233672" y="5632704"/>
            <a:ext cx="6446520" cy="411480"/>
          </a:xfrm>
          <a:custGeom>
            <a:avLst/>
            <a:gdLst/>
            <a:ahLst/>
            <a:cxnLst/>
            <a:rect l="l" t="t" r="r" b="b"/>
            <a:pathLst>
              <a:path w="705" h="45">
                <a:moveTo>
                  <a:pt x="705" y="0"/>
                </a:moveTo>
                <a:lnTo>
                  <a:pt x="705" y="45"/>
                </a:lnTo>
                <a:lnTo>
                  <a:pt x="0" y="45"/>
                </a:lnTo>
                <a:lnTo>
                  <a:pt x="0" y="10"/>
                </a:lnTo>
              </a:path>
            </a:pathLst>
          </a:custGeom>
          <a:noFill/>
          <a:ln w="23774">
            <a:solidFill>
              <a:srgbClr val="0061BD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Loop caption backing"/>
          <p:cNvSpPr/>
          <p:nvPr/>
        </p:nvSpPr>
        <p:spPr>
          <a:xfrm>
            <a:off x="6272784" y="5916168"/>
            <a:ext cx="1463040" cy="2377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Loop caption"/>
          <p:cNvSpPr txBox="1"/>
          <p:nvPr/>
        </p:nvSpPr>
        <p:spPr>
          <a:xfrm>
            <a:off x="6309360" y="5934456"/>
            <a:ext cx="137160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71D43"/>
                </a:solidFill>
                <a:latin typeface="Arial"/>
              </a:rPr>
              <a:t>Repeat as σ decreases</a:t>
            </a:r>
          </a:p>
        </p:txBody>
      </p:sp>
      <p:sp>
        <p:nvSpPr>
          <p:cNvPr id="96" name="Physics inset"/>
          <p:cNvSpPr/>
          <p:nvPr/>
        </p:nvSpPr>
        <p:spPr>
          <a:xfrm>
            <a:off x="301752" y="6208776"/>
            <a:ext cx="10415016" cy="2212848"/>
          </a:xfrm>
          <a:prstGeom prst="roundRect">
            <a:avLst>
              <a:gd name="adj" fmla="val 1500"/>
            </a:avLst>
          </a:prstGeom>
          <a:solidFill>
            <a:srgbClr val="E9FAF8"/>
          </a:solidFill>
          <a:ln w="22859">
            <a:solidFill>
              <a:srgbClr val="00A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Physics inset heading"/>
          <p:cNvSpPr txBox="1"/>
          <p:nvPr/>
        </p:nvSpPr>
        <p:spPr>
          <a:xfrm>
            <a:off x="630936" y="6254496"/>
            <a:ext cx="7315200" cy="3383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2" b="1" i="0">
                <a:solidFill>
                  <a:srgbClr val="071D43"/>
                </a:solidFill>
                <a:latin typeface="Arial"/>
              </a:rPr>
              <a:t>What the SPEN degradation operator does</a:t>
            </a:r>
          </a:p>
        </p:txBody>
      </p:sp>
      <p:sp>
        <p:nvSpPr>
          <p:cNvPr id="98" name="Physics sequential operator boundary"/>
          <p:cNvSpPr/>
          <p:nvPr/>
        </p:nvSpPr>
        <p:spPr>
          <a:xfrm>
            <a:off x="1746504" y="6656832"/>
            <a:ext cx="7278624" cy="1380744"/>
          </a:xfrm>
          <a:prstGeom prst="roundRect">
            <a:avLst>
              <a:gd name="adj" fmla="val 1500"/>
            </a:avLst>
          </a:prstGeom>
          <a:solidFill>
            <a:srgbClr val="F1FCFC"/>
          </a:solidFill>
          <a:ln w="12801">
            <a:solidFill>
              <a:srgbClr val="00A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Denoiser output label"/>
          <p:cNvSpPr txBox="1"/>
          <p:nvPr/>
        </p:nvSpPr>
        <p:spPr>
          <a:xfrm>
            <a:off x="530352" y="6592824"/>
            <a:ext cx="1014984" cy="173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49" b="1" i="0">
                <a:solidFill>
                  <a:srgbClr val="071D43"/>
                </a:solidFill>
                <a:latin typeface="Arial"/>
              </a:rPr>
              <a:t>Denoiser output</a:t>
            </a:r>
          </a:p>
        </p:txBody>
      </p:sp>
      <p:sp>
        <p:nvSpPr>
          <p:cNvPr id="100" name="Denoiser output detail"/>
          <p:cNvSpPr txBox="1"/>
          <p:nvPr/>
        </p:nvSpPr>
        <p:spPr>
          <a:xfrm>
            <a:off x="393192" y="6748272"/>
            <a:ext cx="1325880" cy="15544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071D43"/>
                </a:solidFill>
                <a:latin typeface="Arial"/>
              </a:rPr>
              <a:t>(normalized real magnitude)</a:t>
            </a:r>
          </a:p>
        </p:txBody>
      </p:sp>
      <p:pic>
        <p:nvPicPr>
          <p:cNvPr id="101" name="Physics input magnitude" descr="Physics input magnitud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6072" y="6967728"/>
            <a:ext cx="768096" cy="640080"/>
          </a:xfrm>
          <a:prstGeom prst="rect">
            <a:avLst/>
          </a:prstGeom>
        </p:spPr>
      </p:pic>
      <p:sp>
        <p:nvSpPr>
          <p:cNvPr id="102" name="Physics input symbol"/>
          <p:cNvSpPr txBox="1"/>
          <p:nvPr/>
        </p:nvSpPr>
        <p:spPr>
          <a:xfrm>
            <a:off x="649224" y="7589520"/>
            <a:ext cx="566928" cy="2468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5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655" i="1">
                <a:solidFill>
                  <a:srgbClr val="071D43"/>
                </a:solidFill>
                <a:latin typeface="Liberation Serif"/>
              </a:rPr>
              <a:t>x</a:t>
            </a:r>
          </a:p>
        </p:txBody>
      </p:sp>
      <p:sp>
        <p:nvSpPr>
          <p:cNvPr id="103" name="Magnitude conversion"/>
          <p:cNvSpPr/>
          <p:nvPr/>
        </p:nvSpPr>
        <p:spPr>
          <a:xfrm>
            <a:off x="1883664" y="7059168"/>
            <a:ext cx="941832" cy="429768"/>
          </a:xfrm>
          <a:prstGeom prst="roundRect">
            <a:avLst>
              <a:gd name="adj" fmla="val 1500"/>
            </a:avLst>
          </a:prstGeom>
          <a:solidFill>
            <a:srgbClr val="EDFBFB"/>
          </a:solidFill>
          <a:ln w="13716">
            <a:solidFill>
              <a:srgbClr val="00A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Magnitude conversion equation"/>
          <p:cNvSpPr txBox="1"/>
          <p:nvPr/>
        </p:nvSpPr>
        <p:spPr>
          <a:xfrm>
            <a:off x="1947672" y="7150608"/>
            <a:ext cx="82296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24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224" i="1">
                <a:solidFill>
                  <a:srgbClr val="071D43"/>
                </a:solidFill>
                <a:latin typeface="Liberation Serif"/>
              </a:rPr>
              <a:t>m = (x + 1)/2</a:t>
            </a:r>
          </a:p>
        </p:txBody>
      </p:sp>
      <p:sp>
        <p:nvSpPr>
          <p:cNvPr id="105" name="Coil multiplication"/>
          <p:cNvSpPr/>
          <p:nvPr/>
        </p:nvSpPr>
        <p:spPr>
          <a:xfrm>
            <a:off x="3063240" y="7050024"/>
            <a:ext cx="713232" cy="429768"/>
          </a:xfrm>
          <a:prstGeom prst="roundRect">
            <a:avLst>
              <a:gd name="adj" fmla="val 1500"/>
            </a:avLst>
          </a:prstGeom>
          <a:solidFill>
            <a:srgbClr val="F5FCFC"/>
          </a:solidFill>
          <a:ln w="13716">
            <a:solidFill>
              <a:srgbClr val="00A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Coil multiplication formula"/>
          <p:cNvSpPr txBox="1"/>
          <p:nvPr/>
        </p:nvSpPr>
        <p:spPr>
          <a:xfrm>
            <a:off x="3127248" y="7132320"/>
            <a:ext cx="585216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5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655" i="1">
                <a:solidFill>
                  <a:srgbClr val="071D43"/>
                </a:solidFill>
                <a:latin typeface="Liberation Serif"/>
              </a:rPr>
              <a:t>× Ŝ</a:t>
            </a:r>
            <a:r>
              <a:rPr sz="1159" i="1" baseline="-22000">
                <a:solidFill>
                  <a:srgbClr val="071D43"/>
                </a:solidFill>
                <a:latin typeface="Liberation Serif"/>
              </a:rPr>
              <a:t>c</a:t>
            </a:r>
          </a:p>
        </p:txBody>
      </p:sp>
      <p:sp>
        <p:nvSpPr>
          <p:cNvPr id="107" name="Coil multiplication detail"/>
          <p:cNvSpPr txBox="1"/>
          <p:nvPr/>
        </p:nvSpPr>
        <p:spPr>
          <a:xfrm>
            <a:off x="2971800" y="7507224"/>
            <a:ext cx="969264" cy="27432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071D43"/>
                </a:solidFill>
                <a:latin typeface="Arial"/>
              </a:rPr>
              <a:t>Apply complex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071D43"/>
                </a:solidFill>
                <a:latin typeface="Arial"/>
              </a:rPr>
              <a:t>coil sensitivities</a:t>
            </a:r>
          </a:p>
        </p:txBody>
      </p:sp>
      <p:sp>
        <p:nvSpPr>
          <p:cNvPr id="108" name="Fixed maps to physics"/>
          <p:cNvSpPr/>
          <p:nvPr/>
        </p:nvSpPr>
        <p:spPr>
          <a:xfrm>
            <a:off x="3401568" y="6611112"/>
            <a:ext cx="1435608" cy="429768"/>
          </a:xfrm>
          <a:custGeom>
            <a:avLst/>
            <a:gdLst/>
            <a:ahLst/>
            <a:cxnLst/>
            <a:rect l="l" t="t" r="r" b="b"/>
            <a:pathLst>
              <a:path w="157" h="47">
                <a:moveTo>
                  <a:pt x="157" y="27"/>
                </a:moveTo>
                <a:lnTo>
                  <a:pt x="157" y="0"/>
                </a:lnTo>
                <a:lnTo>
                  <a:pt x="0" y="0"/>
                </a:lnTo>
                <a:lnTo>
                  <a:pt x="0" y="47"/>
                </a:lnTo>
              </a:path>
            </a:pathLst>
          </a:custGeom>
          <a:noFill/>
          <a:ln w="18288">
            <a:solidFill>
              <a:srgbClr val="9347CC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SPEN encoding box"/>
          <p:cNvSpPr/>
          <p:nvPr/>
        </p:nvSpPr>
        <p:spPr>
          <a:xfrm>
            <a:off x="4133087" y="6894576"/>
            <a:ext cx="1362456" cy="777240"/>
          </a:xfrm>
          <a:prstGeom prst="roundRect">
            <a:avLst>
              <a:gd name="adj" fmla="val 1500"/>
            </a:avLst>
          </a:prstGeom>
          <a:solidFill>
            <a:srgbClr val="F1FDFD"/>
          </a:solidFill>
          <a:ln w="12801">
            <a:solidFill>
              <a:srgbClr val="00A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SPEN encoding label"/>
          <p:cNvSpPr txBox="1"/>
          <p:nvPr/>
        </p:nvSpPr>
        <p:spPr>
          <a:xfrm>
            <a:off x="4197096" y="6931152"/>
            <a:ext cx="1252728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71D43"/>
                </a:solidFill>
                <a:latin typeface="Arial"/>
              </a:rPr>
              <a:t>Aᴾᴱ: SPEN encoding</a:t>
            </a:r>
          </a:p>
        </p:txBody>
      </p:sp>
      <p:pic>
        <p:nvPicPr>
          <p:cNvPr id="111" name="SPEN encoding matrix" descr="SPEN encoding matrix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25696" y="7150608"/>
            <a:ext cx="731520" cy="484632"/>
          </a:xfrm>
          <a:prstGeom prst="rect">
            <a:avLst/>
          </a:prstGeom>
        </p:spPr>
      </p:pic>
      <p:sp>
        <p:nvSpPr>
          <p:cNvPr id="112" name="SPEN encoding detail"/>
          <p:cNvSpPr txBox="1"/>
          <p:nvPr/>
        </p:nvSpPr>
        <p:spPr>
          <a:xfrm>
            <a:off x="4160520" y="7690104"/>
            <a:ext cx="1325880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7" b="0" i="0">
                <a:solidFill>
                  <a:srgbClr val="071D43"/>
                </a:solidFill>
                <a:latin typeface="Arial"/>
              </a:rPr>
              <a:t>Same scanner trajectory</a:t>
            </a:r>
          </a:p>
        </p:txBody>
      </p:sp>
      <p:sp>
        <p:nvSpPr>
          <p:cNvPr id="113" name="Readout bandlimit box"/>
          <p:cNvSpPr/>
          <p:nvPr/>
        </p:nvSpPr>
        <p:spPr>
          <a:xfrm>
            <a:off x="5724144" y="6894576"/>
            <a:ext cx="1481328" cy="795528"/>
          </a:xfrm>
          <a:prstGeom prst="roundRect">
            <a:avLst>
              <a:gd name="adj" fmla="val 1500"/>
            </a:avLst>
          </a:prstGeom>
          <a:solidFill>
            <a:srgbClr val="F4FCFC"/>
          </a:solidFill>
          <a:ln w="12801">
            <a:solidFill>
              <a:srgbClr val="00A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eadout bandlimit label"/>
          <p:cNvSpPr txBox="1"/>
          <p:nvPr/>
        </p:nvSpPr>
        <p:spPr>
          <a:xfrm>
            <a:off x="5769864" y="6931152"/>
            <a:ext cx="1399032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71D43"/>
                </a:solidFill>
                <a:latin typeface="Arial"/>
              </a:rPr>
              <a:t>Dᴿᴼ: RO band limitation</a:t>
            </a:r>
          </a:p>
        </p:txBody>
      </p:sp>
      <p:sp>
        <p:nvSpPr>
          <p:cNvPr id="115" name="Retained RO band"/>
          <p:cNvSpPr/>
          <p:nvPr/>
        </p:nvSpPr>
        <p:spPr>
          <a:xfrm>
            <a:off x="6291072" y="7150608"/>
            <a:ext cx="301752" cy="393192"/>
          </a:xfrm>
          <a:prstGeom prst="rect">
            <a:avLst/>
          </a:prstGeom>
          <a:solidFill>
            <a:srgbClr val="C0E1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Spectrum horizontal axis"/>
          <p:cNvSpPr/>
          <p:nvPr/>
        </p:nvSpPr>
        <p:spPr>
          <a:xfrm>
            <a:off x="5779008" y="7534656"/>
            <a:ext cx="1344168" cy="0"/>
          </a:xfrm>
          <a:custGeom>
            <a:avLst/>
            <a:gdLst/>
            <a:ahLst/>
            <a:cxnLst/>
            <a:rect l="l" t="t" r="r" b="b"/>
            <a:pathLst>
              <a:path w="147" h="0">
                <a:moveTo>
                  <a:pt x="0" y="0"/>
                </a:moveTo>
                <a:lnTo>
                  <a:pt x="147" y="0"/>
                </a:lnTo>
              </a:path>
            </a:pathLst>
          </a:custGeom>
          <a:noFill/>
          <a:ln w="7315">
            <a:solidFill>
              <a:srgbClr val="071D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Spectrum vertical axis"/>
          <p:cNvSpPr/>
          <p:nvPr/>
        </p:nvSpPr>
        <p:spPr>
          <a:xfrm>
            <a:off x="6044184" y="7168896"/>
            <a:ext cx="0" cy="457200"/>
          </a:xfrm>
          <a:custGeom>
            <a:avLst/>
            <a:gdLst/>
            <a:ahLst/>
            <a:cxnLst/>
            <a:rect l="l" t="t" r="r" b="b"/>
            <a:pathLst>
              <a:path w="0" h="50">
                <a:moveTo>
                  <a:pt x="0" y="50"/>
                </a:moveTo>
                <a:lnTo>
                  <a:pt x="0" y="0"/>
                </a:lnTo>
              </a:path>
            </a:pathLst>
          </a:custGeom>
          <a:noFill/>
          <a:ln w="7315">
            <a:solidFill>
              <a:srgbClr val="071D43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Illustrative RO spectrum"/>
          <p:cNvSpPr/>
          <p:nvPr/>
        </p:nvSpPr>
        <p:spPr>
          <a:xfrm>
            <a:off x="5779008" y="7260336"/>
            <a:ext cx="1271016" cy="274320"/>
          </a:xfrm>
          <a:custGeom>
            <a:avLst/>
            <a:gdLst/>
            <a:ahLst/>
            <a:cxnLst/>
            <a:rect l="l" t="t" r="r" b="b"/>
            <a:pathLst>
              <a:path w="139" h="30">
                <a:moveTo>
                  <a:pt x="0" y="30"/>
                </a:moveTo>
                <a:lnTo>
                  <a:pt x="4" y="29"/>
                </a:lnTo>
                <a:lnTo>
                  <a:pt x="8" y="30"/>
                </a:lnTo>
                <a:lnTo>
                  <a:pt x="11" y="28"/>
                </a:lnTo>
                <a:lnTo>
                  <a:pt x="15" y="30"/>
                </a:lnTo>
                <a:lnTo>
                  <a:pt x="19" y="27"/>
                </a:lnTo>
                <a:lnTo>
                  <a:pt x="22" y="30"/>
                </a:lnTo>
                <a:lnTo>
                  <a:pt x="26" y="26"/>
                </a:lnTo>
                <a:lnTo>
                  <a:pt x="30" y="29"/>
                </a:lnTo>
                <a:lnTo>
                  <a:pt x="34" y="22"/>
                </a:lnTo>
                <a:lnTo>
                  <a:pt x="38" y="26"/>
                </a:lnTo>
                <a:lnTo>
                  <a:pt x="41" y="28"/>
                </a:lnTo>
                <a:lnTo>
                  <a:pt x="45" y="20"/>
                </a:lnTo>
                <a:lnTo>
                  <a:pt x="49" y="26"/>
                </a:lnTo>
                <a:lnTo>
                  <a:pt x="52" y="18"/>
                </a:lnTo>
                <a:lnTo>
                  <a:pt x="56" y="22"/>
                </a:lnTo>
                <a:lnTo>
                  <a:pt x="60" y="14"/>
                </a:lnTo>
                <a:lnTo>
                  <a:pt x="64" y="18"/>
                </a:lnTo>
                <a:lnTo>
                  <a:pt x="68" y="6"/>
                </a:lnTo>
                <a:lnTo>
                  <a:pt x="71" y="10"/>
                </a:lnTo>
                <a:lnTo>
                  <a:pt x="75" y="0"/>
                </a:lnTo>
                <a:lnTo>
                  <a:pt x="79" y="15"/>
                </a:lnTo>
                <a:lnTo>
                  <a:pt x="82" y="3"/>
                </a:lnTo>
                <a:lnTo>
                  <a:pt x="86" y="18"/>
                </a:lnTo>
                <a:lnTo>
                  <a:pt x="90" y="12"/>
                </a:lnTo>
                <a:lnTo>
                  <a:pt x="94" y="25"/>
                </a:lnTo>
                <a:lnTo>
                  <a:pt x="98" y="16"/>
                </a:lnTo>
                <a:lnTo>
                  <a:pt x="101" y="26"/>
                </a:lnTo>
                <a:lnTo>
                  <a:pt x="105" y="22"/>
                </a:lnTo>
                <a:lnTo>
                  <a:pt x="109" y="28"/>
                </a:lnTo>
                <a:lnTo>
                  <a:pt x="112" y="25"/>
                </a:lnTo>
                <a:lnTo>
                  <a:pt x="116" y="29"/>
                </a:lnTo>
                <a:lnTo>
                  <a:pt x="120" y="27"/>
                </a:lnTo>
                <a:lnTo>
                  <a:pt x="124" y="30"/>
                </a:lnTo>
                <a:lnTo>
                  <a:pt x="128" y="28"/>
                </a:lnTo>
                <a:lnTo>
                  <a:pt x="131" y="29"/>
                </a:lnTo>
                <a:lnTo>
                  <a:pt x="135" y="30"/>
                </a:lnTo>
                <a:lnTo>
                  <a:pt x="139" y="30"/>
                </a:lnTo>
              </a:path>
            </a:pathLst>
          </a:custGeom>
          <a:noFill/>
          <a:ln w="10058">
            <a:solidFill>
              <a:srgbClr val="22222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O frequency label"/>
          <p:cNvSpPr txBox="1"/>
          <p:nvPr/>
        </p:nvSpPr>
        <p:spPr>
          <a:xfrm>
            <a:off x="6867144" y="7507224"/>
            <a:ext cx="301752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864" i="1">
                <a:solidFill>
                  <a:srgbClr val="071D43"/>
                </a:solidFill>
                <a:latin typeface="Liberation Serif"/>
              </a:rPr>
              <a:t>k</a:t>
            </a:r>
            <a:r>
              <a:rPr sz="604" i="1" baseline="-22000">
                <a:solidFill>
                  <a:srgbClr val="071D43"/>
                </a:solidFill>
                <a:latin typeface="Liberation Serif"/>
              </a:rPr>
              <a:t>RO</a:t>
            </a:r>
          </a:p>
        </p:txBody>
      </p:sp>
      <p:sp>
        <p:nvSpPr>
          <p:cNvPr id="120" name="RO bandwidth detail"/>
          <p:cNvSpPr txBox="1"/>
          <p:nvPr/>
        </p:nvSpPr>
        <p:spPr>
          <a:xfrm>
            <a:off x="5687568" y="7699248"/>
            <a:ext cx="1572768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0" b="0" i="0">
                <a:solidFill>
                  <a:srgbClr val="071D43"/>
                </a:solidFill>
                <a:latin typeface="Arial"/>
              </a:rPr>
              <a:t>Retain acquired bandwidth</a:t>
            </a:r>
          </a:p>
        </p:txBody>
      </p:sp>
      <p:sp>
        <p:nvSpPr>
          <p:cNvPr id="121" name="PE sampling mask"/>
          <p:cNvSpPr/>
          <p:nvPr/>
        </p:nvSpPr>
        <p:spPr>
          <a:xfrm>
            <a:off x="7415783" y="6894576"/>
            <a:ext cx="1554480" cy="777240"/>
          </a:xfrm>
          <a:prstGeom prst="roundRect">
            <a:avLst>
              <a:gd name="adj" fmla="val 1500"/>
            </a:avLst>
          </a:prstGeom>
          <a:solidFill>
            <a:srgbClr val="F1FCFC"/>
          </a:solidFill>
          <a:ln w="12801">
            <a:solidFill>
              <a:srgbClr val="00A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PE mask title"/>
          <p:cNvSpPr txBox="1"/>
          <p:nvPr/>
        </p:nvSpPr>
        <p:spPr>
          <a:xfrm>
            <a:off x="7452360" y="6931152"/>
            <a:ext cx="1481328" cy="19202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71D43"/>
                </a:solidFill>
                <a:latin typeface="Arial"/>
              </a:rPr>
              <a:t>M: acquired PE rows</a:t>
            </a:r>
          </a:p>
        </p:txBody>
      </p:sp>
      <p:sp>
        <p:nvSpPr>
          <p:cNvPr id="123" name="PE mask row 0"/>
          <p:cNvSpPr/>
          <p:nvPr/>
        </p:nvSpPr>
        <p:spPr>
          <a:xfrm>
            <a:off x="7488936" y="7150608"/>
            <a:ext cx="585216" cy="0"/>
          </a:xfrm>
          <a:custGeom>
            <a:avLst/>
            <a:gdLst/>
            <a:ahLst/>
            <a:cxnLst/>
            <a:rect l="l" t="t" r="r" b="b"/>
            <a:pathLst>
              <a:path w="64" h="0">
                <a:moveTo>
                  <a:pt x="0" y="0"/>
                </a:moveTo>
                <a:lnTo>
                  <a:pt x="64" y="0"/>
                </a:lnTo>
              </a:path>
            </a:pathLst>
          </a:custGeom>
          <a:noFill/>
          <a:ln w="10058">
            <a:solidFill>
              <a:srgbClr val="0069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PE mask row 1"/>
          <p:cNvSpPr/>
          <p:nvPr/>
        </p:nvSpPr>
        <p:spPr>
          <a:xfrm>
            <a:off x="7488936" y="7178040"/>
            <a:ext cx="585216" cy="0"/>
          </a:xfrm>
          <a:custGeom>
            <a:avLst/>
            <a:gdLst/>
            <a:ahLst/>
            <a:cxnLst/>
            <a:rect l="l" t="t" r="r" b="b"/>
            <a:pathLst>
              <a:path w="64" h="0">
                <a:moveTo>
                  <a:pt x="0" y="0"/>
                </a:moveTo>
                <a:lnTo>
                  <a:pt x="64" y="0"/>
                </a:lnTo>
              </a:path>
            </a:pathLst>
          </a:custGeom>
          <a:noFill/>
          <a:ln w="10058">
            <a:solidFill>
              <a:srgbClr val="0069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PE mask row 2"/>
          <p:cNvSpPr/>
          <p:nvPr/>
        </p:nvSpPr>
        <p:spPr>
          <a:xfrm>
            <a:off x="7488936" y="7205472"/>
            <a:ext cx="585216" cy="0"/>
          </a:xfrm>
          <a:custGeom>
            <a:avLst/>
            <a:gdLst/>
            <a:ahLst/>
            <a:cxnLst/>
            <a:rect l="l" t="t" r="r" b="b"/>
            <a:pathLst>
              <a:path w="64" h="0">
                <a:moveTo>
                  <a:pt x="0" y="0"/>
                </a:moveTo>
                <a:lnTo>
                  <a:pt x="64" y="0"/>
                </a:lnTo>
              </a:path>
            </a:pathLst>
          </a:custGeom>
          <a:noFill/>
          <a:ln w="10058">
            <a:solidFill>
              <a:srgbClr val="0069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PE mask row 3"/>
          <p:cNvSpPr/>
          <p:nvPr/>
        </p:nvSpPr>
        <p:spPr>
          <a:xfrm>
            <a:off x="7488936" y="7232904"/>
            <a:ext cx="585216" cy="0"/>
          </a:xfrm>
          <a:custGeom>
            <a:avLst/>
            <a:gdLst/>
            <a:ahLst/>
            <a:cxnLst/>
            <a:rect l="l" t="t" r="r" b="b"/>
            <a:pathLst>
              <a:path w="64" h="0">
                <a:moveTo>
                  <a:pt x="0" y="0"/>
                </a:moveTo>
                <a:lnTo>
                  <a:pt x="64" y="0"/>
                </a:lnTo>
              </a:path>
            </a:pathLst>
          </a:custGeom>
          <a:noFill/>
          <a:ln w="10058">
            <a:solidFill>
              <a:srgbClr val="0069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PE mask row 4"/>
          <p:cNvSpPr/>
          <p:nvPr/>
        </p:nvSpPr>
        <p:spPr>
          <a:xfrm>
            <a:off x="7488936" y="7260336"/>
            <a:ext cx="585216" cy="0"/>
          </a:xfrm>
          <a:custGeom>
            <a:avLst/>
            <a:gdLst/>
            <a:ahLst/>
            <a:cxnLst/>
            <a:rect l="l" t="t" r="r" b="b"/>
            <a:pathLst>
              <a:path w="64" h="0">
                <a:moveTo>
                  <a:pt x="0" y="0"/>
                </a:moveTo>
                <a:lnTo>
                  <a:pt x="64" y="0"/>
                </a:lnTo>
              </a:path>
            </a:pathLst>
          </a:custGeom>
          <a:noFill/>
          <a:ln w="10058">
            <a:solidFill>
              <a:srgbClr val="0069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PE mask row 5"/>
          <p:cNvSpPr/>
          <p:nvPr/>
        </p:nvSpPr>
        <p:spPr>
          <a:xfrm>
            <a:off x="7488936" y="7287768"/>
            <a:ext cx="585216" cy="0"/>
          </a:xfrm>
          <a:custGeom>
            <a:avLst/>
            <a:gdLst/>
            <a:ahLst/>
            <a:cxnLst/>
            <a:rect l="l" t="t" r="r" b="b"/>
            <a:pathLst>
              <a:path w="64" h="0">
                <a:moveTo>
                  <a:pt x="0" y="0"/>
                </a:moveTo>
                <a:lnTo>
                  <a:pt x="64" y="0"/>
                </a:lnTo>
              </a:path>
            </a:pathLst>
          </a:custGeom>
          <a:noFill/>
          <a:ln w="10058">
            <a:solidFill>
              <a:srgbClr val="0069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PE mask row 6"/>
          <p:cNvSpPr/>
          <p:nvPr/>
        </p:nvSpPr>
        <p:spPr>
          <a:xfrm>
            <a:off x="7488936" y="7315200"/>
            <a:ext cx="585216" cy="0"/>
          </a:xfrm>
          <a:custGeom>
            <a:avLst/>
            <a:gdLst/>
            <a:ahLst/>
            <a:cxnLst/>
            <a:rect l="l" t="t" r="r" b="b"/>
            <a:pathLst>
              <a:path w="64" h="0">
                <a:moveTo>
                  <a:pt x="0" y="0"/>
                </a:moveTo>
                <a:lnTo>
                  <a:pt x="64" y="0"/>
                </a:lnTo>
              </a:path>
            </a:pathLst>
          </a:custGeom>
          <a:noFill/>
          <a:ln w="10058">
            <a:solidFill>
              <a:srgbClr val="0069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PE mask row 7"/>
          <p:cNvSpPr/>
          <p:nvPr/>
        </p:nvSpPr>
        <p:spPr>
          <a:xfrm>
            <a:off x="7488936" y="7342632"/>
            <a:ext cx="585216" cy="0"/>
          </a:xfrm>
          <a:custGeom>
            <a:avLst/>
            <a:gdLst/>
            <a:ahLst/>
            <a:cxnLst/>
            <a:rect l="l" t="t" r="r" b="b"/>
            <a:pathLst>
              <a:path w="64" h="0">
                <a:moveTo>
                  <a:pt x="0" y="0"/>
                </a:moveTo>
                <a:lnTo>
                  <a:pt x="64" y="0"/>
                </a:lnTo>
              </a:path>
            </a:pathLst>
          </a:custGeom>
          <a:noFill/>
          <a:ln w="10058">
            <a:solidFill>
              <a:srgbClr val="0069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PE mask row 8"/>
          <p:cNvSpPr/>
          <p:nvPr/>
        </p:nvSpPr>
        <p:spPr>
          <a:xfrm>
            <a:off x="7488936" y="7370064"/>
            <a:ext cx="585216" cy="0"/>
          </a:xfrm>
          <a:custGeom>
            <a:avLst/>
            <a:gdLst/>
            <a:ahLst/>
            <a:cxnLst/>
            <a:rect l="l" t="t" r="r" b="b"/>
            <a:pathLst>
              <a:path w="64" h="0">
                <a:moveTo>
                  <a:pt x="0" y="0"/>
                </a:moveTo>
                <a:lnTo>
                  <a:pt x="64" y="0"/>
                </a:lnTo>
              </a:path>
            </a:pathLst>
          </a:custGeom>
          <a:noFill/>
          <a:ln w="10058">
            <a:solidFill>
              <a:srgbClr val="ABC0CC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PE mask row 9"/>
          <p:cNvSpPr/>
          <p:nvPr/>
        </p:nvSpPr>
        <p:spPr>
          <a:xfrm>
            <a:off x="7488936" y="7397496"/>
            <a:ext cx="585216" cy="0"/>
          </a:xfrm>
          <a:custGeom>
            <a:avLst/>
            <a:gdLst/>
            <a:ahLst/>
            <a:cxnLst/>
            <a:rect l="l" t="t" r="r" b="b"/>
            <a:pathLst>
              <a:path w="64" h="0">
                <a:moveTo>
                  <a:pt x="0" y="0"/>
                </a:moveTo>
                <a:lnTo>
                  <a:pt x="64" y="0"/>
                </a:lnTo>
              </a:path>
            </a:pathLst>
          </a:custGeom>
          <a:noFill/>
          <a:ln w="10058">
            <a:solidFill>
              <a:srgbClr val="ABC0CC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PE mask row 10"/>
          <p:cNvSpPr/>
          <p:nvPr/>
        </p:nvSpPr>
        <p:spPr>
          <a:xfrm>
            <a:off x="7488936" y="7424928"/>
            <a:ext cx="585216" cy="0"/>
          </a:xfrm>
          <a:custGeom>
            <a:avLst/>
            <a:gdLst/>
            <a:ahLst/>
            <a:cxnLst/>
            <a:rect l="l" t="t" r="r" b="b"/>
            <a:pathLst>
              <a:path w="64" h="0">
                <a:moveTo>
                  <a:pt x="0" y="0"/>
                </a:moveTo>
                <a:lnTo>
                  <a:pt x="64" y="0"/>
                </a:lnTo>
              </a:path>
            </a:pathLst>
          </a:custGeom>
          <a:noFill/>
          <a:ln w="10058">
            <a:solidFill>
              <a:srgbClr val="ABC0CC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PE mask row 11"/>
          <p:cNvSpPr/>
          <p:nvPr/>
        </p:nvSpPr>
        <p:spPr>
          <a:xfrm>
            <a:off x="7488936" y="7452360"/>
            <a:ext cx="585216" cy="0"/>
          </a:xfrm>
          <a:custGeom>
            <a:avLst/>
            <a:gdLst/>
            <a:ahLst/>
            <a:cxnLst/>
            <a:rect l="l" t="t" r="r" b="b"/>
            <a:pathLst>
              <a:path w="64" h="0">
                <a:moveTo>
                  <a:pt x="0" y="0"/>
                </a:moveTo>
                <a:lnTo>
                  <a:pt x="64" y="0"/>
                </a:lnTo>
              </a:path>
            </a:pathLst>
          </a:custGeom>
          <a:noFill/>
          <a:ln w="10058">
            <a:solidFill>
              <a:srgbClr val="ABC0CC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PE mask row 12"/>
          <p:cNvSpPr/>
          <p:nvPr/>
        </p:nvSpPr>
        <p:spPr>
          <a:xfrm>
            <a:off x="7488936" y="7479792"/>
            <a:ext cx="585216" cy="0"/>
          </a:xfrm>
          <a:custGeom>
            <a:avLst/>
            <a:gdLst/>
            <a:ahLst/>
            <a:cxnLst/>
            <a:rect l="l" t="t" r="r" b="b"/>
            <a:pathLst>
              <a:path w="64" h="0">
                <a:moveTo>
                  <a:pt x="0" y="0"/>
                </a:moveTo>
                <a:lnTo>
                  <a:pt x="64" y="0"/>
                </a:lnTo>
              </a:path>
            </a:pathLst>
          </a:custGeom>
          <a:noFill/>
          <a:ln w="10058">
            <a:solidFill>
              <a:srgbClr val="ABC0CC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PE mask row 13"/>
          <p:cNvSpPr/>
          <p:nvPr/>
        </p:nvSpPr>
        <p:spPr>
          <a:xfrm>
            <a:off x="7488936" y="7507224"/>
            <a:ext cx="585216" cy="0"/>
          </a:xfrm>
          <a:custGeom>
            <a:avLst/>
            <a:gdLst/>
            <a:ahLst/>
            <a:cxnLst/>
            <a:rect l="l" t="t" r="r" b="b"/>
            <a:pathLst>
              <a:path w="64" h="0">
                <a:moveTo>
                  <a:pt x="0" y="0"/>
                </a:moveTo>
                <a:lnTo>
                  <a:pt x="64" y="0"/>
                </a:lnTo>
              </a:path>
            </a:pathLst>
          </a:custGeom>
          <a:noFill/>
          <a:ln w="10058">
            <a:solidFill>
              <a:srgbClr val="ABC0CC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PE mask row 14"/>
          <p:cNvSpPr/>
          <p:nvPr/>
        </p:nvSpPr>
        <p:spPr>
          <a:xfrm>
            <a:off x="7488936" y="7534656"/>
            <a:ext cx="585216" cy="0"/>
          </a:xfrm>
          <a:custGeom>
            <a:avLst/>
            <a:gdLst/>
            <a:ahLst/>
            <a:cxnLst/>
            <a:rect l="l" t="t" r="r" b="b"/>
            <a:pathLst>
              <a:path w="64" h="0">
                <a:moveTo>
                  <a:pt x="0" y="0"/>
                </a:moveTo>
                <a:lnTo>
                  <a:pt x="64" y="0"/>
                </a:lnTo>
              </a:path>
            </a:pathLst>
          </a:custGeom>
          <a:noFill/>
          <a:ln w="10058">
            <a:solidFill>
              <a:srgbClr val="ABC0CC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PE mask row 15"/>
          <p:cNvSpPr/>
          <p:nvPr/>
        </p:nvSpPr>
        <p:spPr>
          <a:xfrm>
            <a:off x="7488936" y="7562088"/>
            <a:ext cx="585216" cy="0"/>
          </a:xfrm>
          <a:custGeom>
            <a:avLst/>
            <a:gdLst/>
            <a:ahLst/>
            <a:cxnLst/>
            <a:rect l="l" t="t" r="r" b="b"/>
            <a:pathLst>
              <a:path w="64" h="0">
                <a:moveTo>
                  <a:pt x="0" y="0"/>
                </a:moveTo>
                <a:lnTo>
                  <a:pt x="64" y="0"/>
                </a:lnTo>
              </a:path>
            </a:pathLst>
          </a:custGeom>
          <a:noFill/>
          <a:ln w="10058">
            <a:solidFill>
              <a:srgbClr val="ABC0CC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PE mask row 16"/>
          <p:cNvSpPr/>
          <p:nvPr/>
        </p:nvSpPr>
        <p:spPr>
          <a:xfrm>
            <a:off x="7488936" y="7589520"/>
            <a:ext cx="585216" cy="0"/>
          </a:xfrm>
          <a:custGeom>
            <a:avLst/>
            <a:gdLst/>
            <a:ahLst/>
            <a:cxnLst/>
            <a:rect l="l" t="t" r="r" b="b"/>
            <a:pathLst>
              <a:path w="64" h="0">
                <a:moveTo>
                  <a:pt x="0" y="0"/>
                </a:moveTo>
                <a:lnTo>
                  <a:pt x="64" y="0"/>
                </a:lnTo>
              </a:path>
            </a:pathLst>
          </a:custGeom>
          <a:noFill/>
          <a:ln w="10058">
            <a:solidFill>
              <a:srgbClr val="ABC0CC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Retained rows key"/>
          <p:cNvSpPr/>
          <p:nvPr/>
        </p:nvSpPr>
        <p:spPr>
          <a:xfrm>
            <a:off x="8183880" y="7260336"/>
            <a:ext cx="100584" cy="0"/>
          </a:xfrm>
          <a:custGeom>
            <a:avLst/>
            <a:gdLst/>
            <a:ahLst/>
            <a:cxnLst/>
            <a:rect l="l" t="t" r="r" b="b"/>
            <a:pathLst>
              <a:path w="11" h="0">
                <a:moveTo>
                  <a:pt x="0" y="0"/>
                </a:moveTo>
                <a:lnTo>
                  <a:pt x="11" y="0"/>
                </a:lnTo>
              </a:path>
            </a:pathLst>
          </a:custGeom>
          <a:noFill/>
          <a:ln w="27432">
            <a:solidFill>
              <a:srgbClr val="0069C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Missing rows key"/>
          <p:cNvSpPr/>
          <p:nvPr/>
        </p:nvSpPr>
        <p:spPr>
          <a:xfrm>
            <a:off x="8183880" y="7406640"/>
            <a:ext cx="100584" cy="0"/>
          </a:xfrm>
          <a:custGeom>
            <a:avLst/>
            <a:gdLst/>
            <a:ahLst/>
            <a:cxnLst/>
            <a:rect l="l" t="t" r="r" b="b"/>
            <a:pathLst>
              <a:path w="11" h="0">
                <a:moveTo>
                  <a:pt x="0" y="0"/>
                </a:moveTo>
                <a:lnTo>
                  <a:pt x="11" y="0"/>
                </a:lnTo>
              </a:path>
            </a:pathLst>
          </a:custGeom>
          <a:noFill/>
          <a:ln w="13716">
            <a:solidFill>
              <a:srgbClr val="A1AFB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Retained rows legend"/>
          <p:cNvSpPr txBox="1"/>
          <p:nvPr/>
        </p:nvSpPr>
        <p:spPr>
          <a:xfrm>
            <a:off x="8321040" y="7178040"/>
            <a:ext cx="630936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4" b="0" i="0">
                <a:solidFill>
                  <a:srgbClr val="071D43"/>
                </a:solidFill>
                <a:latin typeface="Arial"/>
              </a:rPr>
              <a:t>Retained rows</a:t>
            </a:r>
          </a:p>
        </p:txBody>
      </p:sp>
      <p:sp>
        <p:nvSpPr>
          <p:cNvPr id="143" name="Missing rows legend"/>
          <p:cNvSpPr txBox="1"/>
          <p:nvPr/>
        </p:nvSpPr>
        <p:spPr>
          <a:xfrm>
            <a:off x="8321040" y="7333488"/>
            <a:ext cx="630936" cy="16459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84" b="0" i="0">
                <a:solidFill>
                  <a:srgbClr val="071D43"/>
                </a:solidFill>
                <a:latin typeface="Arial"/>
              </a:rPr>
              <a:t>Missing rows</a:t>
            </a:r>
          </a:p>
        </p:txBody>
      </p:sp>
      <p:sp>
        <p:nvSpPr>
          <p:cNvPr id="144" name="PE sampling detail"/>
          <p:cNvSpPr txBox="1"/>
          <p:nvPr/>
        </p:nvSpPr>
        <p:spPr>
          <a:xfrm>
            <a:off x="7406640" y="7699248"/>
            <a:ext cx="1581912" cy="20116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7" b="0" i="0">
                <a:solidFill>
                  <a:srgbClr val="071D43"/>
                </a:solidFill>
                <a:latin typeface="Arial"/>
              </a:rPr>
              <a:t>Full or undersampled PE</a:t>
            </a:r>
          </a:p>
        </p:txBody>
      </p:sp>
      <p:sp>
        <p:nvSpPr>
          <p:cNvPr id="145" name="Predicted data box"/>
          <p:cNvSpPr/>
          <p:nvPr/>
        </p:nvSpPr>
        <p:spPr>
          <a:xfrm>
            <a:off x="9217152" y="6647688"/>
            <a:ext cx="1389888" cy="1389888"/>
          </a:xfrm>
          <a:prstGeom prst="roundRect">
            <a:avLst>
              <a:gd name="adj" fmla="val 1500"/>
            </a:avLst>
          </a:prstGeom>
          <a:solidFill>
            <a:srgbClr val="F5FDFD"/>
          </a:solidFill>
          <a:ln w="13716">
            <a:solidFill>
              <a:srgbClr val="00A8A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Predicted data label"/>
          <p:cNvSpPr txBox="1"/>
          <p:nvPr/>
        </p:nvSpPr>
        <p:spPr>
          <a:xfrm>
            <a:off x="9290304" y="6711696"/>
            <a:ext cx="1261872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71D43"/>
                </a:solidFill>
                <a:latin typeface="Arial"/>
              </a:rPr>
              <a:t>Predicted complex data</a:t>
            </a:r>
          </a:p>
        </p:txBody>
      </p:sp>
      <p:pic>
        <p:nvPicPr>
          <p:cNvPr id="147" name="Predicted complex coil data" descr="Predicted complex coil data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73184" y="6949440"/>
            <a:ext cx="841248" cy="603504"/>
          </a:xfrm>
          <a:prstGeom prst="rect">
            <a:avLst/>
          </a:prstGeom>
        </p:spPr>
      </p:pic>
      <p:sp>
        <p:nvSpPr>
          <p:cNvPr id="148" name="Predicted data symbol"/>
          <p:cNvSpPr txBox="1"/>
          <p:nvPr/>
        </p:nvSpPr>
        <p:spPr>
          <a:xfrm>
            <a:off x="9418320" y="7552944"/>
            <a:ext cx="996696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8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368" i="1">
                <a:solidFill>
                  <a:srgbClr val="071D43"/>
                </a:solidFill>
                <a:latin typeface="Liberation Serif"/>
              </a:rPr>
              <a:t>F</a:t>
            </a:r>
            <a:r>
              <a:rPr sz="957" i="1" baseline="-22000">
                <a:solidFill>
                  <a:srgbClr val="071D43"/>
                </a:solidFill>
                <a:latin typeface="Liberation Serif"/>
              </a:rPr>
              <a:t>c</a:t>
            </a:r>
            <a:r>
              <a:rPr sz="1368" i="1">
                <a:solidFill>
                  <a:srgbClr val="071D43"/>
                </a:solidFill>
                <a:latin typeface="Liberation Serif"/>
              </a:rPr>
              <a:t>(x)</a:t>
            </a:r>
          </a:p>
        </p:txBody>
      </p:sp>
      <p:sp>
        <p:nvSpPr>
          <p:cNvPr id="149" name="Predicted data dimensions"/>
          <p:cNvSpPr txBox="1"/>
          <p:nvPr/>
        </p:nvSpPr>
        <p:spPr>
          <a:xfrm>
            <a:off x="9308592" y="7754112"/>
            <a:ext cx="1207008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8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008" i="1">
                <a:solidFill>
                  <a:srgbClr val="071D43"/>
                </a:solidFill>
                <a:latin typeface="Liberation Serif"/>
              </a:rPr>
              <a:t>∈ ℂ</a:t>
            </a:r>
            <a:r>
              <a:rPr sz="705" i="1" baseline="35000">
                <a:solidFill>
                  <a:srgbClr val="071D43"/>
                </a:solidFill>
                <a:latin typeface="Liberation Serif"/>
              </a:rPr>
              <a:t>Nc × NPE × NRO</a:t>
            </a:r>
          </a:p>
        </p:txBody>
      </p:sp>
      <p:sp>
        <p:nvSpPr>
          <p:cNvPr id="150" name="Physics arrow 0"/>
          <p:cNvSpPr/>
          <p:nvPr/>
        </p:nvSpPr>
        <p:spPr>
          <a:xfrm>
            <a:off x="1389888" y="7269480"/>
            <a:ext cx="374904" cy="0"/>
          </a:xfrm>
          <a:custGeom>
            <a:avLst/>
            <a:gdLst/>
            <a:ahLst/>
            <a:cxnLst/>
            <a:rect l="l" t="t" r="r" b="b"/>
            <a:pathLst>
              <a:path w="41" h="0">
                <a:moveTo>
                  <a:pt x="0" y="0"/>
                </a:moveTo>
                <a:lnTo>
                  <a:pt x="41" y="0"/>
                </a:lnTo>
              </a:path>
            </a:pathLst>
          </a:custGeom>
          <a:noFill/>
          <a:ln w="13716">
            <a:solidFill>
              <a:srgbClr val="00A8A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Physics arrow 1"/>
          <p:cNvSpPr/>
          <p:nvPr/>
        </p:nvSpPr>
        <p:spPr>
          <a:xfrm>
            <a:off x="2834640" y="7269480"/>
            <a:ext cx="237744" cy="0"/>
          </a:xfrm>
          <a:custGeom>
            <a:avLst/>
            <a:gdLst/>
            <a:ahLst/>
            <a:cxnLst/>
            <a:rect l="l" t="t" r="r" b="b"/>
            <a:pathLst>
              <a:path w="26" h="0">
                <a:moveTo>
                  <a:pt x="0" y="0"/>
                </a:moveTo>
                <a:lnTo>
                  <a:pt x="26" y="0"/>
                </a:lnTo>
              </a:path>
            </a:pathLst>
          </a:custGeom>
          <a:noFill/>
          <a:ln w="13716">
            <a:solidFill>
              <a:srgbClr val="00A8A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Physics arrow 2"/>
          <p:cNvSpPr/>
          <p:nvPr/>
        </p:nvSpPr>
        <p:spPr>
          <a:xfrm>
            <a:off x="3785616" y="7269480"/>
            <a:ext cx="347472" cy="0"/>
          </a:xfrm>
          <a:custGeom>
            <a:avLst/>
            <a:gdLst/>
            <a:ahLst/>
            <a:cxnLst/>
            <a:rect l="l" t="t" r="r" b="b"/>
            <a:pathLst>
              <a:path w="38" h="0">
                <a:moveTo>
                  <a:pt x="0" y="0"/>
                </a:moveTo>
                <a:lnTo>
                  <a:pt x="38" y="0"/>
                </a:lnTo>
              </a:path>
            </a:pathLst>
          </a:custGeom>
          <a:noFill/>
          <a:ln w="13716">
            <a:solidFill>
              <a:srgbClr val="00A8A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Physics arrow 3"/>
          <p:cNvSpPr/>
          <p:nvPr/>
        </p:nvSpPr>
        <p:spPr>
          <a:xfrm>
            <a:off x="5513832" y="7269480"/>
            <a:ext cx="219456" cy="0"/>
          </a:xfrm>
          <a:custGeom>
            <a:avLst/>
            <a:gdLst/>
            <a:ahLst/>
            <a:cxnLst/>
            <a:rect l="l" t="t" r="r" b="b"/>
            <a:pathLst>
              <a:path w="24" h="0">
                <a:moveTo>
                  <a:pt x="0" y="0"/>
                </a:moveTo>
                <a:lnTo>
                  <a:pt x="24" y="0"/>
                </a:lnTo>
              </a:path>
            </a:pathLst>
          </a:custGeom>
          <a:noFill/>
          <a:ln w="13716">
            <a:solidFill>
              <a:srgbClr val="00A8A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Physics arrow 4"/>
          <p:cNvSpPr/>
          <p:nvPr/>
        </p:nvSpPr>
        <p:spPr>
          <a:xfrm>
            <a:off x="7223760" y="7269480"/>
            <a:ext cx="201168" cy="0"/>
          </a:xfrm>
          <a:custGeom>
            <a:avLst/>
            <a:gdLst/>
            <a:ahLst/>
            <a:cxnLst/>
            <a:rect l="l" t="t" r="r" b="b"/>
            <a:pathLst>
              <a:path w="22" h="0">
                <a:moveTo>
                  <a:pt x="0" y="0"/>
                </a:moveTo>
                <a:lnTo>
                  <a:pt x="22" y="0"/>
                </a:lnTo>
              </a:path>
            </a:pathLst>
          </a:custGeom>
          <a:noFill/>
          <a:ln w="13716">
            <a:solidFill>
              <a:srgbClr val="00A8A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Physics arrow 5"/>
          <p:cNvSpPr/>
          <p:nvPr/>
        </p:nvSpPr>
        <p:spPr>
          <a:xfrm>
            <a:off x="8970264" y="7269480"/>
            <a:ext cx="246888" cy="0"/>
          </a:xfrm>
          <a:custGeom>
            <a:avLst/>
            <a:gdLst/>
            <a:ahLst/>
            <a:cxnLst/>
            <a:rect l="l" t="t" r="r" b="b"/>
            <a:pathLst>
              <a:path w="27" h="0">
                <a:moveTo>
                  <a:pt x="0" y="0"/>
                </a:moveTo>
                <a:lnTo>
                  <a:pt x="27" y="0"/>
                </a:lnTo>
              </a:path>
            </a:pathLst>
          </a:custGeom>
          <a:noFill/>
          <a:ln w="13716">
            <a:solidFill>
              <a:srgbClr val="00A8A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Physics operator to consistency"/>
          <p:cNvSpPr/>
          <p:nvPr/>
        </p:nvSpPr>
        <p:spPr>
          <a:xfrm>
            <a:off x="5669280" y="5833872"/>
            <a:ext cx="2615184" cy="822960"/>
          </a:xfrm>
          <a:custGeom>
            <a:avLst/>
            <a:gdLst/>
            <a:ahLst/>
            <a:cxnLst/>
            <a:rect l="l" t="t" r="r" b="b"/>
            <a:pathLst>
              <a:path w="286" h="90">
                <a:moveTo>
                  <a:pt x="0" y="90"/>
                </a:moveTo>
                <a:lnTo>
                  <a:pt x="0" y="64"/>
                </a:lnTo>
                <a:lnTo>
                  <a:pt x="286" y="64"/>
                </a:lnTo>
                <a:lnTo>
                  <a:pt x="286" y="0"/>
                </a:lnTo>
              </a:path>
            </a:pathLst>
          </a:custGeom>
          <a:noFill/>
          <a:ln w="18288">
            <a:solidFill>
              <a:srgbClr val="00A8AA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Forward operator equation"/>
          <p:cNvSpPr txBox="1"/>
          <p:nvPr/>
        </p:nvSpPr>
        <p:spPr>
          <a:xfrm>
            <a:off x="3803904" y="8037575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12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512" i="1">
                <a:solidFill>
                  <a:srgbClr val="071D43"/>
                </a:solidFill>
                <a:latin typeface="Liberation Serif"/>
              </a:rPr>
              <a:t>F</a:t>
            </a:r>
            <a:r>
              <a:rPr sz="1058" i="1" baseline="-22000">
                <a:solidFill>
                  <a:srgbClr val="071D43"/>
                </a:solidFill>
                <a:latin typeface="Liberation Serif"/>
              </a:rPr>
              <a:t>c</a:t>
            </a:r>
            <a:r>
              <a:rPr sz="1512" i="1">
                <a:solidFill>
                  <a:srgbClr val="071D43"/>
                </a:solidFill>
                <a:latin typeface="Liberation Serif"/>
              </a:rPr>
              <a:t>(x) = M D</a:t>
            </a:r>
            <a:r>
              <a:rPr sz="1058" i="1" baseline="-22000">
                <a:solidFill>
                  <a:srgbClr val="071D43"/>
                </a:solidFill>
                <a:latin typeface="Liberation Serif"/>
              </a:rPr>
              <a:t>RO</a:t>
            </a:r>
            <a:r>
              <a:rPr sz="1512" i="1">
                <a:solidFill>
                  <a:srgbClr val="071D43"/>
                </a:solidFill>
                <a:latin typeface="Liberation Serif"/>
              </a:rPr>
              <a:t> A</a:t>
            </a:r>
            <a:r>
              <a:rPr sz="1058" i="1" baseline="-22000">
                <a:solidFill>
                  <a:srgbClr val="071D43"/>
                </a:solidFill>
                <a:latin typeface="Liberation Serif"/>
              </a:rPr>
              <a:t>PE</a:t>
            </a:r>
            <a:r>
              <a:rPr sz="1512" i="1">
                <a:solidFill>
                  <a:srgbClr val="071D43"/>
                </a:solidFill>
                <a:latin typeface="Liberation Serif"/>
              </a:rPr>
              <a:t> [Ŝ</a:t>
            </a:r>
            <a:r>
              <a:rPr sz="1058" i="1" baseline="-22000">
                <a:solidFill>
                  <a:srgbClr val="071D43"/>
                </a:solidFill>
                <a:latin typeface="Liberation Serif"/>
              </a:rPr>
              <a:t>c</a:t>
            </a:r>
            <a:r>
              <a:rPr sz="1512" i="1">
                <a:solidFill>
                  <a:srgbClr val="071D43"/>
                </a:solidFill>
                <a:latin typeface="Liberation Serif"/>
              </a:rPr>
              <a:t> (x + 1)/2]</a:t>
            </a:r>
          </a:p>
        </p:txBody>
      </p:sp>
      <p:sp>
        <p:nvSpPr>
          <p:cNvPr id="158" name="Grid size example"/>
          <p:cNvSpPr txBox="1"/>
          <p:nvPr/>
        </p:nvSpPr>
        <p:spPr>
          <a:xfrm>
            <a:off x="7891272" y="8156448"/>
            <a:ext cx="2734056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0" b="0" i="0">
                <a:solidFill>
                  <a:srgbClr val="071D43"/>
                </a:solidFill>
                <a:latin typeface="Arial"/>
              </a:rPr>
              <a:t>Example: 192 × 192 image grid → 96 × 96 acquisition</a:t>
            </a:r>
          </a:p>
        </p:txBody>
      </p:sp>
      <p:sp>
        <p:nvSpPr>
          <p:cNvPr id="159" name="Phase refinement boundary"/>
          <p:cNvSpPr/>
          <p:nvPr/>
        </p:nvSpPr>
        <p:spPr>
          <a:xfrm>
            <a:off x="11384280" y="6208776"/>
            <a:ext cx="2843784" cy="2157984"/>
          </a:xfrm>
          <a:prstGeom prst="roundRect">
            <a:avLst>
              <a:gd name="adj" fmla="val 1500"/>
            </a:avLst>
          </a:prstGeom>
          <a:noFill/>
          <a:ln w="12801">
            <a:solidFill>
              <a:srgbClr val="7928B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Phase refinement title"/>
          <p:cNvSpPr txBox="1"/>
          <p:nvPr/>
        </p:nvSpPr>
        <p:spPr>
          <a:xfrm>
            <a:off x="11466576" y="6272784"/>
            <a:ext cx="2697480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7928BA"/>
                </a:solidFill>
                <a:latin typeface="Arial"/>
              </a:rPr>
              <a:t>Experimental extension: phase refinement</a:t>
            </a:r>
          </a:p>
        </p:txBody>
      </p:sp>
      <p:sp>
        <p:nvSpPr>
          <p:cNvPr id="161" name="Residual phase label"/>
          <p:cNvSpPr txBox="1"/>
          <p:nvPr/>
        </p:nvSpPr>
        <p:spPr>
          <a:xfrm>
            <a:off x="11585448" y="6547104"/>
            <a:ext cx="1014984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071D43"/>
                </a:solidFill>
                <a:latin typeface="Arial"/>
              </a:rPr>
              <a:t>Residual phase φ</a:t>
            </a:r>
          </a:p>
        </p:txBody>
      </p:sp>
      <p:pic>
        <p:nvPicPr>
          <p:cNvPr id="162" name="Residual phase map" descr="Residual phase map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521440" y="6784848"/>
            <a:ext cx="713232" cy="795528"/>
          </a:xfrm>
          <a:prstGeom prst="rect">
            <a:avLst/>
          </a:prstGeom>
        </p:spPr>
      </p:pic>
      <p:pic>
        <p:nvPicPr>
          <p:cNvPr id="163" name="Residual phase colorbar" descr="Residual phase colorbar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307824" y="6775704"/>
            <a:ext cx="246888" cy="795528"/>
          </a:xfrm>
          <a:prstGeom prst="rect">
            <a:avLst/>
          </a:prstGeom>
        </p:spPr>
      </p:pic>
      <p:sp>
        <p:nvSpPr>
          <p:cNvPr id="164" name="Phase fitting note"/>
          <p:cNvSpPr txBox="1"/>
          <p:nvPr/>
        </p:nvSpPr>
        <p:spPr>
          <a:xfrm>
            <a:off x="12627864" y="6739128"/>
            <a:ext cx="1563624" cy="32004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071D43"/>
                </a:solidFill>
                <a:latin typeface="Arial"/>
              </a:rPr>
              <a:t>•  Fit residual odd/even phase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2" b="0" i="0">
                <a:solidFill>
                  <a:srgbClr val="071D43"/>
                </a:solidFill>
                <a:latin typeface="Arial"/>
              </a:rPr>
              <a:t>   from measured data</a:t>
            </a:r>
          </a:p>
        </p:txBody>
      </p:sp>
      <p:sp>
        <p:nvSpPr>
          <p:cNvPr id="165" name="Phase row note"/>
          <p:cNvSpPr txBox="1"/>
          <p:nvPr/>
        </p:nvSpPr>
        <p:spPr>
          <a:xfrm>
            <a:off x="12627864" y="7077456"/>
            <a:ext cx="1572768" cy="210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3" b="0" i="0">
                <a:solidFill>
                  <a:srgbClr val="071D43"/>
                </a:solidFill>
                <a:latin typeface="Arial"/>
              </a:rPr>
              <a:t>•  Even rows: exp(iφ); odd rows: 1</a:t>
            </a:r>
          </a:p>
        </p:txBody>
      </p:sp>
      <p:sp>
        <p:nvSpPr>
          <p:cNvPr id="166" name="Phase updating note"/>
          <p:cNvSpPr txBox="1"/>
          <p:nvPr/>
        </p:nvSpPr>
        <p:spPr>
          <a:xfrm>
            <a:off x="12627864" y="7306056"/>
            <a:ext cx="1563624" cy="30175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7" b="0" i="0">
                <a:solidFill>
                  <a:srgbClr val="071D43"/>
                </a:solidFill>
                <a:latin typeface="Arial"/>
              </a:rPr>
              <a:t>•  Update phase during sampling;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7" b="0" i="0">
                <a:solidFill>
                  <a:srgbClr val="071D43"/>
                </a:solidFill>
                <a:latin typeface="Arial"/>
              </a:rPr>
              <a:t>   prior stays frozen.</a:t>
            </a:r>
          </a:p>
        </p:txBody>
      </p:sp>
      <p:sp>
        <p:nvSpPr>
          <p:cNvPr id="167" name="Phase variant equation"/>
          <p:cNvSpPr txBox="1"/>
          <p:nvPr/>
        </p:nvSpPr>
        <p:spPr>
          <a:xfrm>
            <a:off x="11448288" y="7726679"/>
            <a:ext cx="2715768" cy="28346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60" b="0" i="1">
                <a:solidFill>
                  <a:srgbClr val="071D43"/>
                </a:solidFill>
                <a:latin typeface="Liberation Serif"/>
              </a:rPr>
              <a:t/>
            </a:r>
            <a:r>
              <a:rPr sz="1260" i="1">
                <a:solidFill>
                  <a:srgbClr val="071D43"/>
                </a:solidFill>
                <a:latin typeface="Liberation Serif"/>
              </a:rPr>
              <a:t>F</a:t>
            </a:r>
            <a:r>
              <a:rPr sz="881" i="1" baseline="-22000">
                <a:solidFill>
                  <a:srgbClr val="071D43"/>
                </a:solidFill>
                <a:latin typeface="Liberation Serif"/>
              </a:rPr>
              <a:t>φ,c</a:t>
            </a:r>
            <a:r>
              <a:rPr sz="1260" i="1">
                <a:solidFill>
                  <a:srgbClr val="071D43"/>
                </a:solidFill>
                <a:latin typeface="Liberation Serif"/>
              </a:rPr>
              <a:t>(x) = M{exp(iEφ) ⊙ D</a:t>
            </a:r>
            <a:r>
              <a:rPr sz="881" i="1" baseline="-22000">
                <a:solidFill>
                  <a:srgbClr val="071D43"/>
                </a:solidFill>
                <a:latin typeface="Liberation Serif"/>
              </a:rPr>
              <a:t>RO</a:t>
            </a:r>
            <a:r>
              <a:rPr sz="1260" i="1">
                <a:solidFill>
                  <a:srgbClr val="071D43"/>
                </a:solidFill>
                <a:latin typeface="Liberation Serif"/>
              </a:rPr>
              <a:t> A</a:t>
            </a:r>
            <a:r>
              <a:rPr sz="881" i="1" baseline="-22000">
                <a:solidFill>
                  <a:srgbClr val="071D43"/>
                </a:solidFill>
                <a:latin typeface="Liberation Serif"/>
              </a:rPr>
              <a:t>PE</a:t>
            </a:r>
            <a:r>
              <a:rPr sz="1260" i="1">
                <a:solidFill>
                  <a:srgbClr val="071D43"/>
                </a:solidFill>
                <a:latin typeface="Liberation Serif"/>
              </a:rPr>
              <a:t>[Ŝ</a:t>
            </a:r>
            <a:r>
              <a:rPr sz="881" i="1" baseline="-22000">
                <a:solidFill>
                  <a:srgbClr val="071D43"/>
                </a:solidFill>
                <a:latin typeface="Liberation Serif"/>
              </a:rPr>
              <a:t>c</a:t>
            </a:r>
            <a:r>
              <a:rPr sz="1260" i="1">
                <a:solidFill>
                  <a:srgbClr val="071D43"/>
                </a:solidFill>
                <a:latin typeface="Liberation Serif"/>
              </a:rPr>
              <a:t>m]}</a:t>
            </a:r>
          </a:p>
        </p:txBody>
      </p:sp>
      <p:sp>
        <p:nvSpPr>
          <p:cNvPr id="168" name="Phase row placement"/>
          <p:cNvSpPr txBox="1"/>
          <p:nvPr/>
        </p:nvSpPr>
        <p:spPr>
          <a:xfrm>
            <a:off x="11466576" y="8037575"/>
            <a:ext cx="2670048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7" b="0" i="0">
                <a:solidFill>
                  <a:srgbClr val="7928BA"/>
                </a:solidFill>
                <a:latin typeface="Arial"/>
              </a:rPr>
              <a:t>E: original even scanner rows, before PE masking</a:t>
            </a:r>
          </a:p>
        </p:txBody>
      </p:sp>
      <p:sp>
        <p:nvSpPr>
          <p:cNvPr id="169" name="Optional phase connector"/>
          <p:cNvSpPr/>
          <p:nvPr/>
        </p:nvSpPr>
        <p:spPr>
          <a:xfrm>
            <a:off x="10762488" y="7260336"/>
            <a:ext cx="603504" cy="0"/>
          </a:xfrm>
          <a:custGeom>
            <a:avLst/>
            <a:gdLst/>
            <a:ahLst/>
            <a:cxnLst/>
            <a:rect l="l" t="t" r="r" b="b"/>
            <a:pathLst>
              <a:path w="66" h="0">
                <a:moveTo>
                  <a:pt x="66" y="0"/>
                </a:moveTo>
                <a:lnTo>
                  <a:pt x="0" y="0"/>
                </a:lnTo>
              </a:path>
            </a:pathLst>
          </a:custGeom>
          <a:noFill/>
          <a:ln w="18288">
            <a:solidFill>
              <a:srgbClr val="A762DC"/>
            </a:solidFill>
            <a:prstDash val="dash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Optional connector label"/>
          <p:cNvSpPr txBox="1"/>
          <p:nvPr/>
        </p:nvSpPr>
        <p:spPr>
          <a:xfrm>
            <a:off x="10789920" y="6986016"/>
            <a:ext cx="594360" cy="219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4" b="1" i="0">
                <a:solidFill>
                  <a:srgbClr val="9954D4"/>
                </a:solidFill>
                <a:latin typeface="Arial"/>
              </a:rPr>
              <a:t>Optional</a:t>
            </a:r>
          </a:p>
        </p:txBody>
      </p:sp>
      <p:sp>
        <p:nvSpPr>
          <p:cNvPr id="171" name="Legend learned"/>
          <p:cNvSpPr txBox="1"/>
          <p:nvPr/>
        </p:nvSpPr>
        <p:spPr>
          <a:xfrm>
            <a:off x="3785615" y="8714232"/>
            <a:ext cx="1234440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69CF"/>
                </a:solidFill>
                <a:latin typeface="Arial"/>
              </a:rPr>
              <a:t>Blue: learned prior</a:t>
            </a:r>
          </a:p>
        </p:txBody>
      </p:sp>
      <p:sp>
        <p:nvSpPr>
          <p:cNvPr id="172" name="Legend physics"/>
          <p:cNvSpPr txBox="1"/>
          <p:nvPr/>
        </p:nvSpPr>
        <p:spPr>
          <a:xfrm>
            <a:off x="5148072" y="8714232"/>
            <a:ext cx="1243584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0989E"/>
                </a:solidFill>
                <a:latin typeface="Arial"/>
              </a:rPr>
              <a:t>Teal: fixed physics</a:t>
            </a:r>
          </a:p>
        </p:txBody>
      </p:sp>
      <p:sp>
        <p:nvSpPr>
          <p:cNvPr id="173" name="Legend phase"/>
          <p:cNvSpPr txBox="1"/>
          <p:nvPr/>
        </p:nvSpPr>
        <p:spPr>
          <a:xfrm>
            <a:off x="6473952" y="8714232"/>
            <a:ext cx="1810512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7928BA"/>
                </a:solidFill>
                <a:latin typeface="Arial"/>
              </a:rPr>
              <a:t>Purple: phase / coil estimates</a:t>
            </a:r>
          </a:p>
        </p:txBody>
      </p:sp>
      <p:sp>
        <p:nvSpPr>
          <p:cNvPr id="174" name="Legend consistency"/>
          <p:cNvSpPr txBox="1"/>
          <p:nvPr/>
        </p:nvSpPr>
        <p:spPr>
          <a:xfrm>
            <a:off x="8403336" y="8714232"/>
            <a:ext cx="2267712" cy="26517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F16800"/>
                </a:solidFill>
                <a:latin typeface="Arial"/>
              </a:rPr>
              <a:t>Orange: measurement consistency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