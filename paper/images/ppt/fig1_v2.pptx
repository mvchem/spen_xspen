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167360" cy="823874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raining panel"/>
          <p:cNvSpPr/>
          <p:nvPr/>
        </p:nvSpPr>
        <p:spPr>
          <a:xfrm>
            <a:off x="91440" y="512064"/>
            <a:ext cx="12984480" cy="1956816"/>
          </a:xfrm>
          <a:prstGeom prst="roundRect">
            <a:avLst>
              <a:gd name="adj" fmla="val 1500"/>
            </a:avLst>
          </a:prstGeom>
          <a:solidFill>
            <a:srgbClr val="F8FCFE"/>
          </a:solidFill>
          <a:ln w="24688">
            <a:solidFill>
              <a:srgbClr val="2385B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ampling panel"/>
          <p:cNvSpPr/>
          <p:nvPr/>
        </p:nvSpPr>
        <p:spPr>
          <a:xfrm>
            <a:off x="91440" y="2743200"/>
            <a:ext cx="12984480" cy="5157216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24688">
            <a:solidFill>
              <a:srgbClr val="0095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Figure title"/>
          <p:cNvSpPr txBox="1"/>
          <p:nvPr/>
        </p:nvSpPr>
        <p:spPr>
          <a:xfrm>
            <a:off x="1828800" y="18288"/>
            <a:ext cx="9509760" cy="3931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36" b="1" i="0">
                <a:solidFill>
                  <a:srgbClr val="13354C"/>
                </a:solidFill>
                <a:latin typeface="Arial"/>
              </a:rPr>
              <a:t>SPEN Diffusion Reconstruction</a:t>
            </a:r>
          </a:p>
        </p:txBody>
      </p:sp>
      <p:sp>
        <p:nvSpPr>
          <p:cNvPr id="5" name="Panel a title"/>
          <p:cNvSpPr txBox="1"/>
          <p:nvPr/>
        </p:nvSpPr>
        <p:spPr>
          <a:xfrm>
            <a:off x="182880" y="566928"/>
            <a:ext cx="6858000" cy="3017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5F96"/>
                </a:solidFill>
                <a:latin typeface="Arial"/>
              </a:rPr>
              <a:t>(a) Training the magnitude prior</a:t>
            </a:r>
          </a:p>
        </p:txBody>
      </p:sp>
      <p:sp>
        <p:nvSpPr>
          <p:cNvPr id="6" name="Training mode"/>
          <p:cNvSpPr txBox="1"/>
          <p:nvPr/>
        </p:nvSpPr>
        <p:spPr>
          <a:xfrm>
            <a:off x="10149840" y="621792"/>
            <a:ext cx="27432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24" b="0" i="0">
                <a:solidFill>
                  <a:srgbClr val="155084"/>
                </a:solidFill>
                <a:latin typeface="Arial"/>
              </a:rPr>
              <a:t>Unconditional EDM training</a:t>
            </a:r>
          </a:p>
        </p:txBody>
      </p:sp>
      <p:sp>
        <p:nvSpPr>
          <p:cNvPr id="7" name="Panel b title"/>
          <p:cNvSpPr txBox="1"/>
          <p:nvPr/>
        </p:nvSpPr>
        <p:spPr>
          <a:xfrm>
            <a:off x="182880" y="2798064"/>
            <a:ext cx="7132320" cy="2834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1" i="0">
                <a:solidFill>
                  <a:srgbClr val="086E72"/>
                </a:solidFill>
                <a:latin typeface="Arial"/>
              </a:rPr>
              <a:t>(b) Physics-constrained sampling</a:t>
            </a:r>
          </a:p>
        </p:txBody>
      </p:sp>
      <p:sp>
        <p:nvSpPr>
          <p:cNvPr id="8" name="Clean MRI title"/>
          <p:cNvSpPr txBox="1"/>
          <p:nvPr/>
        </p:nvSpPr>
        <p:spPr>
          <a:xfrm>
            <a:off x="402336" y="896112"/>
            <a:ext cx="1591056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71D43"/>
                </a:solidFill>
                <a:latin typeface="Arial"/>
              </a:rPr>
              <a:t>Clean magnitude MRI</a:t>
            </a:r>
          </a:p>
        </p:txBody>
      </p:sp>
      <p:sp>
        <p:nvSpPr>
          <p:cNvPr id="9" name="Clean MRI symbol"/>
          <p:cNvSpPr txBox="1"/>
          <p:nvPr/>
        </p:nvSpPr>
        <p:spPr>
          <a:xfrm>
            <a:off x="987552" y="1060704"/>
            <a:ext cx="347472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439" i="1">
                <a:solidFill>
                  <a:srgbClr val="071D43"/>
                </a:solidFill>
                <a:latin typeface="Liberation Serif"/>
              </a:rPr>
              <a:t>x</a:t>
            </a:r>
            <a:r>
              <a:rPr sz="1007" i="1" baseline="-22000">
                <a:solidFill>
                  <a:srgbClr val="071D43"/>
                </a:solidFill>
                <a:latin typeface="Liberation Serif"/>
              </a:rPr>
              <a:t>0</a:t>
            </a:r>
          </a:p>
        </p:txBody>
      </p:sp>
      <p:pic>
        <p:nvPicPr>
          <p:cNvPr id="10" name="Clean MRI — measured training slice" descr="training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261872"/>
            <a:ext cx="1005840" cy="1005840"/>
          </a:xfrm>
          <a:prstGeom prst="rect">
            <a:avLst/>
          </a:prstGeom>
        </p:spPr>
      </p:pic>
      <p:sp>
        <p:nvSpPr>
          <p:cNvPr id="11" name="Noise addition title"/>
          <p:cNvSpPr txBox="1"/>
          <p:nvPr/>
        </p:nvSpPr>
        <p:spPr>
          <a:xfrm>
            <a:off x="1993392" y="1380744"/>
            <a:ext cx="1399032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71D43"/>
                </a:solidFill>
                <a:latin typeface="Arial"/>
              </a:rPr>
              <a:t>Add Gaussian noise</a:t>
            </a:r>
          </a:p>
        </p:txBody>
      </p:sp>
      <p:sp>
        <p:nvSpPr>
          <p:cNvPr id="12" name="Noise addition formula"/>
          <p:cNvSpPr txBox="1"/>
          <p:nvPr/>
        </p:nvSpPr>
        <p:spPr>
          <a:xfrm>
            <a:off x="1993392" y="1581912"/>
            <a:ext cx="1399032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12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512" i="1">
                <a:solidFill>
                  <a:srgbClr val="071D43"/>
                </a:solidFill>
                <a:latin typeface="Liberation Serif"/>
              </a:rPr>
              <a:t>x</a:t>
            </a:r>
            <a:r>
              <a:rPr sz="1058" i="1" baseline="-22000">
                <a:solidFill>
                  <a:srgbClr val="071D43"/>
                </a:solidFill>
                <a:latin typeface="Liberation Serif"/>
              </a:rPr>
              <a:t>σ</a:t>
            </a:r>
            <a:r>
              <a:rPr sz="1512" i="1">
                <a:solidFill>
                  <a:srgbClr val="071D43"/>
                </a:solidFill>
                <a:latin typeface="Liberation Serif"/>
              </a:rPr>
              <a:t> = x</a:t>
            </a:r>
            <a:r>
              <a:rPr sz="1058" i="1" baseline="-22000">
                <a:solidFill>
                  <a:srgbClr val="071D43"/>
                </a:solidFill>
                <a:latin typeface="Liberation Serif"/>
              </a:rPr>
              <a:t>0</a:t>
            </a:r>
            <a:r>
              <a:rPr sz="1512" i="1">
                <a:solidFill>
                  <a:srgbClr val="071D43"/>
                </a:solidFill>
                <a:latin typeface="Liberation Serif"/>
              </a:rPr>
              <a:t> + σ ε</a:t>
            </a:r>
          </a:p>
        </p:txBody>
      </p:sp>
      <p:sp>
        <p:nvSpPr>
          <p:cNvPr id="13" name="Clean to noisy"/>
          <p:cNvSpPr/>
          <p:nvPr/>
        </p:nvSpPr>
        <p:spPr>
          <a:xfrm>
            <a:off x="1828800" y="1801368"/>
            <a:ext cx="1691640" cy="0"/>
          </a:xfrm>
          <a:custGeom>
            <a:avLst/>
            <a:gdLst/>
            <a:ahLst/>
            <a:cxnLst/>
            <a:rect l="l" t="t" r="r" b="b"/>
            <a:pathLst>
              <a:path w="185" h="0">
                <a:moveTo>
                  <a:pt x="0" y="0"/>
                </a:moveTo>
                <a:lnTo>
                  <a:pt x="185" y="0"/>
                </a:lnTo>
              </a:path>
            </a:pathLst>
          </a:custGeom>
          <a:noFill/>
          <a:ln w="15544">
            <a:solidFill>
              <a:srgbClr val="146CA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oisy MRI title"/>
          <p:cNvSpPr txBox="1"/>
          <p:nvPr/>
        </p:nvSpPr>
        <p:spPr>
          <a:xfrm>
            <a:off x="3502152" y="896112"/>
            <a:ext cx="1216152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71D43"/>
                </a:solidFill>
                <a:latin typeface="Arial"/>
              </a:rPr>
              <a:t>Noisy image</a:t>
            </a:r>
          </a:p>
        </p:txBody>
      </p:sp>
      <p:sp>
        <p:nvSpPr>
          <p:cNvPr id="15" name="Noisy MRI symbol"/>
          <p:cNvSpPr txBox="1"/>
          <p:nvPr/>
        </p:nvSpPr>
        <p:spPr>
          <a:xfrm>
            <a:off x="3904487" y="1060704"/>
            <a:ext cx="402336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439" i="1">
                <a:solidFill>
                  <a:srgbClr val="071D43"/>
                </a:solidFill>
                <a:latin typeface="Liberation Serif"/>
              </a:rPr>
              <a:t>x</a:t>
            </a:r>
            <a:r>
              <a:rPr sz="1007" i="1" baseline="-22000">
                <a:solidFill>
                  <a:srgbClr val="071D43"/>
                </a:solidFill>
                <a:latin typeface="Liberation Serif"/>
              </a:rPr>
              <a:t>σ</a:t>
            </a:r>
          </a:p>
        </p:txBody>
      </p:sp>
      <p:pic>
        <p:nvPicPr>
          <p:cNvPr id="16" name="Noisy MRI — seeded Gaussian noising" descr="training_nois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261872"/>
            <a:ext cx="1005840" cy="1005840"/>
          </a:xfrm>
          <a:prstGeom prst="rect">
            <a:avLst/>
          </a:prstGeom>
        </p:spPr>
      </p:pic>
      <p:sp>
        <p:nvSpPr>
          <p:cNvPr id="17" name="Noisy to training U-Net"/>
          <p:cNvSpPr/>
          <p:nvPr/>
        </p:nvSpPr>
        <p:spPr>
          <a:xfrm>
            <a:off x="4736592" y="1755648"/>
            <a:ext cx="676656" cy="0"/>
          </a:xfrm>
          <a:custGeom>
            <a:avLst/>
            <a:gdLst/>
            <a:ahLst/>
            <a:cxnLst/>
            <a:rect l="l" t="t" r="r" b="b"/>
            <a:pathLst>
              <a:path w="74" h="0">
                <a:moveTo>
                  <a:pt x="0" y="0"/>
                </a:moveTo>
                <a:lnTo>
                  <a:pt x="74" y="0"/>
                </a:lnTo>
              </a:path>
            </a:pathLst>
          </a:custGeom>
          <a:noFill/>
          <a:ln w="15544">
            <a:solidFill>
              <a:srgbClr val="146CA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29" name="Training U-Net"/>
          <p:cNvGrpSpPr/>
          <p:nvPr/>
        </p:nvGrpSpPr>
        <p:grpSpPr>
          <a:xfrm>
            <a:off x="5449824" y="1124712"/>
            <a:ext cx="1773935" cy="1060704"/>
            <a:chOff x="5449824" y="1124712"/>
            <a:chExt cx="1773935" cy="1060704"/>
          </a:xfrm>
        </p:grpSpPr>
        <p:sp>
          <p:nvSpPr>
            <p:cNvPr id="18" name="Training U-Net block 1"/>
            <p:cNvSpPr/>
            <p:nvPr/>
          </p:nvSpPr>
          <p:spPr>
            <a:xfrm>
              <a:off x="5449824" y="1124712"/>
              <a:ext cx="195132" cy="1060704"/>
            </a:xfrm>
            <a:prstGeom prst="rect">
              <a:avLst/>
            </a:prstGeom>
            <a:solidFill>
              <a:srgbClr val="54A4E1"/>
            </a:solidFill>
            <a:ln w="9144">
              <a:solidFill>
                <a:srgbClr val="3589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Training U-Net block 2"/>
            <p:cNvSpPr/>
            <p:nvPr/>
          </p:nvSpPr>
          <p:spPr>
            <a:xfrm>
              <a:off x="5698175" y="1326245"/>
              <a:ext cx="177393" cy="742492"/>
            </a:xfrm>
            <a:prstGeom prst="rect">
              <a:avLst/>
            </a:prstGeom>
            <a:solidFill>
              <a:srgbClr val="54A4E1"/>
            </a:solidFill>
            <a:ln w="9144">
              <a:solidFill>
                <a:srgbClr val="3589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raining U-Net block 3"/>
            <p:cNvSpPr/>
            <p:nvPr/>
          </p:nvSpPr>
          <p:spPr>
            <a:xfrm>
              <a:off x="5911047" y="1517172"/>
              <a:ext cx="177393" cy="424281"/>
            </a:xfrm>
            <a:prstGeom prst="rect">
              <a:avLst/>
            </a:prstGeom>
            <a:solidFill>
              <a:srgbClr val="54A4E1"/>
            </a:solidFill>
            <a:ln w="9144">
              <a:solidFill>
                <a:srgbClr val="3589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Training U-Net block 4"/>
            <p:cNvSpPr/>
            <p:nvPr/>
          </p:nvSpPr>
          <p:spPr>
            <a:xfrm>
              <a:off x="6567403" y="1517172"/>
              <a:ext cx="177393" cy="424281"/>
            </a:xfrm>
            <a:prstGeom prst="rect">
              <a:avLst/>
            </a:prstGeom>
            <a:solidFill>
              <a:srgbClr val="54A4E1"/>
            </a:solidFill>
            <a:ln w="9144">
              <a:solidFill>
                <a:srgbClr val="3589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Training U-Net block 5"/>
            <p:cNvSpPr/>
            <p:nvPr/>
          </p:nvSpPr>
          <p:spPr>
            <a:xfrm>
              <a:off x="6798015" y="1326245"/>
              <a:ext cx="177393" cy="742492"/>
            </a:xfrm>
            <a:prstGeom prst="rect">
              <a:avLst/>
            </a:prstGeom>
            <a:solidFill>
              <a:srgbClr val="54A4E1"/>
            </a:solidFill>
            <a:ln w="9144">
              <a:solidFill>
                <a:srgbClr val="3589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raining U-Net block 6"/>
            <p:cNvSpPr/>
            <p:nvPr/>
          </p:nvSpPr>
          <p:spPr>
            <a:xfrm>
              <a:off x="7028627" y="1124712"/>
              <a:ext cx="195132" cy="1060704"/>
            </a:xfrm>
            <a:prstGeom prst="rect">
              <a:avLst/>
            </a:prstGeom>
            <a:solidFill>
              <a:srgbClr val="54A4E1"/>
            </a:solidFill>
            <a:ln w="9144">
              <a:solidFill>
                <a:srgbClr val="3589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raining U-Net outer skip"/>
            <p:cNvSpPr/>
            <p:nvPr/>
          </p:nvSpPr>
          <p:spPr>
            <a:xfrm>
              <a:off x="5751576" y="1216152"/>
              <a:ext cx="1207008" cy="100584"/>
            </a:xfrm>
            <a:custGeom>
              <a:avLst/>
              <a:gdLst/>
              <a:ahLst/>
              <a:cxnLst/>
              <a:rect l="l" t="t" r="r" b="b"/>
              <a:pathLst>
                <a:path w="132" h="11">
                  <a:moveTo>
                    <a:pt x="0" y="11"/>
                  </a:moveTo>
                  <a:lnTo>
                    <a:pt x="0" y="0"/>
                  </a:lnTo>
                  <a:lnTo>
                    <a:pt x="132" y="0"/>
                  </a:lnTo>
                </a:path>
              </a:pathLst>
            </a:custGeom>
            <a:noFill/>
            <a:ln w="12801">
              <a:solidFill>
                <a:srgbClr val="146CA5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Training U-Net inner skip"/>
            <p:cNvSpPr/>
            <p:nvPr/>
          </p:nvSpPr>
          <p:spPr>
            <a:xfrm>
              <a:off x="5998464" y="1417320"/>
              <a:ext cx="713232" cy="91440"/>
            </a:xfrm>
            <a:custGeom>
              <a:avLst/>
              <a:gdLst/>
              <a:ahLst/>
              <a:cxnLst/>
              <a:rect l="l" t="t" r="r" b="b"/>
              <a:pathLst>
                <a:path w="78" h="10">
                  <a:moveTo>
                    <a:pt x="0" y="10"/>
                  </a:moveTo>
                  <a:lnTo>
                    <a:pt x="0" y="0"/>
                  </a:lnTo>
                  <a:lnTo>
                    <a:pt x="78" y="0"/>
                  </a:lnTo>
                </a:path>
              </a:pathLst>
            </a:custGeom>
            <a:noFill/>
            <a:ln w="12801">
              <a:solidFill>
                <a:srgbClr val="146CA5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raining U-Net ellipsis 1"/>
            <p:cNvSpPr/>
            <p:nvPr/>
          </p:nvSpPr>
          <p:spPr>
            <a:xfrm>
              <a:off x="6248095" y="1729313"/>
              <a:ext cx="27432" cy="27432"/>
            </a:xfrm>
            <a:prstGeom prst="ellipse">
              <a:avLst/>
            </a:prstGeom>
            <a:solidFill>
              <a:srgbClr val="146CA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raining U-Net ellipsis 2"/>
            <p:cNvSpPr/>
            <p:nvPr/>
          </p:nvSpPr>
          <p:spPr>
            <a:xfrm>
              <a:off x="6329696" y="1729313"/>
              <a:ext cx="27432" cy="27432"/>
            </a:xfrm>
            <a:prstGeom prst="ellipse">
              <a:avLst/>
            </a:prstGeom>
            <a:solidFill>
              <a:srgbClr val="146CA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Training U-Net ellipsis 3"/>
            <p:cNvSpPr/>
            <p:nvPr/>
          </p:nvSpPr>
          <p:spPr>
            <a:xfrm>
              <a:off x="6411297" y="1729313"/>
              <a:ext cx="27432" cy="27432"/>
            </a:xfrm>
            <a:prstGeom prst="ellipse">
              <a:avLst/>
            </a:prstGeom>
            <a:solidFill>
              <a:srgbClr val="146CA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30" name="Training U-Net formula"/>
          <p:cNvSpPr txBox="1"/>
          <p:nvPr/>
        </p:nvSpPr>
        <p:spPr>
          <a:xfrm>
            <a:off x="5769864" y="850392"/>
            <a:ext cx="1106424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5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655" i="1">
                <a:solidFill>
                  <a:srgbClr val="071D43"/>
                </a:solidFill>
                <a:latin typeface="Liberation Serif"/>
              </a:rPr>
              <a:t>D</a:t>
            </a:r>
            <a:r>
              <a:rPr sz="1159" i="1" baseline="-22000">
                <a:solidFill>
                  <a:srgbClr val="071D43"/>
                </a:solidFill>
                <a:latin typeface="Liberation Serif"/>
              </a:rPr>
              <a:t>θ</a:t>
            </a:r>
            <a:r>
              <a:rPr sz="1655" i="1">
                <a:solidFill>
                  <a:srgbClr val="071D43"/>
                </a:solidFill>
                <a:latin typeface="Liberation Serif"/>
              </a:rPr>
              <a:t>(x</a:t>
            </a:r>
            <a:r>
              <a:rPr sz="1159" i="1" baseline="-22000">
                <a:solidFill>
                  <a:srgbClr val="071D43"/>
                </a:solidFill>
                <a:latin typeface="Liberation Serif"/>
              </a:rPr>
              <a:t>σ</a:t>
            </a:r>
            <a:r>
              <a:rPr sz="1655" i="1">
                <a:solidFill>
                  <a:srgbClr val="071D43"/>
                </a:solidFill>
                <a:latin typeface="Liberation Serif"/>
              </a:rPr>
              <a:t>, σ)</a:t>
            </a:r>
          </a:p>
        </p:txBody>
      </p:sp>
      <p:sp>
        <p:nvSpPr>
          <p:cNvPr id="31" name="Training U-Net label"/>
          <p:cNvSpPr txBox="1"/>
          <p:nvPr/>
        </p:nvSpPr>
        <p:spPr>
          <a:xfrm>
            <a:off x="5870448" y="2167128"/>
            <a:ext cx="914400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1" i="0">
                <a:solidFill>
                  <a:srgbClr val="135F96"/>
                </a:solidFill>
                <a:latin typeface="Arial"/>
              </a:rPr>
              <a:t>U-Net</a:t>
            </a:r>
          </a:p>
        </p:txBody>
      </p:sp>
      <p:sp>
        <p:nvSpPr>
          <p:cNvPr id="32" name="Training U-Net to output"/>
          <p:cNvSpPr/>
          <p:nvPr/>
        </p:nvSpPr>
        <p:spPr>
          <a:xfrm>
            <a:off x="7269480" y="1755648"/>
            <a:ext cx="658368" cy="0"/>
          </a:xfrm>
          <a:custGeom>
            <a:avLst/>
            <a:gdLst/>
            <a:ahLst/>
            <a:cxnLst/>
            <a:rect l="l" t="t" r="r" b="b"/>
            <a:pathLst>
              <a:path w="72" h="0">
                <a:moveTo>
                  <a:pt x="0" y="0"/>
                </a:moveTo>
                <a:lnTo>
                  <a:pt x="72" y="0"/>
                </a:lnTo>
              </a:path>
            </a:pathLst>
          </a:custGeom>
          <a:noFill/>
          <a:ln w="15544">
            <a:solidFill>
              <a:srgbClr val="146CA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Denoised estimate title"/>
          <p:cNvSpPr txBox="1"/>
          <p:nvPr/>
        </p:nvSpPr>
        <p:spPr>
          <a:xfrm>
            <a:off x="7754112" y="896112"/>
            <a:ext cx="1463040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71D43"/>
                </a:solidFill>
                <a:latin typeface="Arial"/>
              </a:rPr>
              <a:t>Denoised estimate</a:t>
            </a:r>
          </a:p>
        </p:txBody>
      </p:sp>
      <p:sp>
        <p:nvSpPr>
          <p:cNvPr id="34" name="Denoised estimate formula"/>
          <p:cNvSpPr txBox="1"/>
          <p:nvPr/>
        </p:nvSpPr>
        <p:spPr>
          <a:xfrm>
            <a:off x="7891272" y="1060704"/>
            <a:ext cx="1207008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439" i="1">
                <a:solidFill>
                  <a:srgbClr val="071D43"/>
                </a:solidFill>
                <a:latin typeface="Liberation Serif"/>
              </a:rPr>
              <a:t>D</a:t>
            </a:r>
            <a:r>
              <a:rPr sz="1007" i="1" baseline="-22000">
                <a:solidFill>
                  <a:srgbClr val="071D43"/>
                </a:solidFill>
                <a:latin typeface="Liberation Serif"/>
              </a:rPr>
              <a:t>θ</a:t>
            </a:r>
            <a:r>
              <a:rPr sz="1439" i="1">
                <a:solidFill>
                  <a:srgbClr val="071D43"/>
                </a:solidFill>
                <a:latin typeface="Liberation Serif"/>
              </a:rPr>
              <a:t>(x</a:t>
            </a:r>
            <a:r>
              <a:rPr sz="1007" i="1" baseline="-22000">
                <a:solidFill>
                  <a:srgbClr val="071D43"/>
                </a:solidFill>
                <a:latin typeface="Liberation Serif"/>
              </a:rPr>
              <a:t>σ</a:t>
            </a:r>
            <a:r>
              <a:rPr sz="1439" i="1">
                <a:solidFill>
                  <a:srgbClr val="071D43"/>
                </a:solidFill>
                <a:latin typeface="Liberation Serif"/>
              </a:rPr>
              <a:t>, σ)</a:t>
            </a:r>
          </a:p>
        </p:txBody>
      </p:sp>
      <p:pic>
        <p:nvPicPr>
          <p:cNvPr id="35" name="Denoised estimate — actual checkpoint output" descr="training_denois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5572" y="1271016"/>
            <a:ext cx="987552" cy="987552"/>
          </a:xfrm>
          <a:prstGeom prst="rect">
            <a:avLst/>
          </a:prstGeom>
        </p:spPr>
      </p:pic>
      <p:sp>
        <p:nvSpPr>
          <p:cNvPr id="36" name="Clean target loss link"/>
          <p:cNvSpPr/>
          <p:nvPr/>
        </p:nvSpPr>
        <p:spPr>
          <a:xfrm>
            <a:off x="9107424" y="1783080"/>
            <a:ext cx="1179576" cy="0"/>
          </a:xfrm>
          <a:custGeom>
            <a:avLst/>
            <a:gdLst/>
            <a:ahLst/>
            <a:cxnLst/>
            <a:rect l="l" t="t" r="r" b="b"/>
            <a:pathLst>
              <a:path w="129" h="0">
                <a:moveTo>
                  <a:pt x="0" y="0"/>
                </a:moveTo>
                <a:lnTo>
                  <a:pt x="129" y="0"/>
                </a:lnTo>
              </a:path>
            </a:pathLst>
          </a:custGeom>
          <a:noFill/>
          <a:ln w="11887">
            <a:solidFill>
              <a:srgbClr val="071D43"/>
            </a:solidFill>
            <a:prstDash val="dash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Loss link label"/>
          <p:cNvSpPr txBox="1"/>
          <p:nvPr/>
        </p:nvSpPr>
        <p:spPr>
          <a:xfrm>
            <a:off x="9171432" y="1399032"/>
            <a:ext cx="1088136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071D43"/>
                </a:solidFill>
                <a:latin typeface="Arial"/>
              </a:rPr>
              <a:t>Loss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071D43"/>
                </a:solidFill>
                <a:latin typeface="Arial"/>
              </a:rPr>
              <a:t>(to clean target)</a:t>
            </a:r>
          </a:p>
        </p:txBody>
      </p:sp>
      <p:sp>
        <p:nvSpPr>
          <p:cNvPr id="38" name="Training loss frame"/>
          <p:cNvSpPr/>
          <p:nvPr/>
        </p:nvSpPr>
        <p:spPr>
          <a:xfrm>
            <a:off x="10314432" y="1517904"/>
            <a:ext cx="2551176" cy="493776"/>
          </a:xfrm>
          <a:prstGeom prst="roundRect">
            <a:avLst>
              <a:gd name="adj" fmla="val 1500"/>
            </a:avLst>
          </a:prstGeom>
          <a:solidFill>
            <a:srgbClr val="F0F8FD"/>
          </a:solidFill>
          <a:ln w="12801">
            <a:solidFill>
              <a:srgbClr val="146C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raining loss formula"/>
          <p:cNvSpPr txBox="1"/>
          <p:nvPr/>
        </p:nvSpPr>
        <p:spPr>
          <a:xfrm>
            <a:off x="10378440" y="1591056"/>
            <a:ext cx="2423160" cy="3474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12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512" i="1">
                <a:solidFill>
                  <a:srgbClr val="071D43"/>
                </a:solidFill>
                <a:latin typeface="Liberation Serif"/>
              </a:rPr>
              <a:t>ℒ = E[ w(σ) ‖D</a:t>
            </a:r>
            <a:r>
              <a:rPr sz="1058" i="1" baseline="-22000">
                <a:solidFill>
                  <a:srgbClr val="071D43"/>
                </a:solidFill>
                <a:latin typeface="Liberation Serif"/>
              </a:rPr>
              <a:t>θ</a:t>
            </a:r>
            <a:r>
              <a:rPr sz="1512" i="1">
                <a:solidFill>
                  <a:srgbClr val="071D43"/>
                </a:solidFill>
                <a:latin typeface="Liberation Serif"/>
              </a:rPr>
              <a:t>(x</a:t>
            </a:r>
            <a:r>
              <a:rPr sz="1058" i="1" baseline="-22000">
                <a:solidFill>
                  <a:srgbClr val="071D43"/>
                </a:solidFill>
                <a:latin typeface="Liberation Serif"/>
              </a:rPr>
              <a:t>σ</a:t>
            </a:r>
            <a:r>
              <a:rPr sz="1512" i="1">
                <a:solidFill>
                  <a:srgbClr val="071D43"/>
                </a:solidFill>
                <a:latin typeface="Liberation Serif"/>
              </a:rPr>
              <a:t>, σ) − x</a:t>
            </a:r>
            <a:r>
              <a:rPr sz="1058" i="1" baseline="-22000">
                <a:solidFill>
                  <a:srgbClr val="071D43"/>
                </a:solidFill>
                <a:latin typeface="Liberation Serif"/>
              </a:rPr>
              <a:t>0</a:t>
            </a:r>
            <a:r>
              <a:rPr sz="1512" i="1">
                <a:solidFill>
                  <a:srgbClr val="071D43"/>
                </a:solidFill>
                <a:latin typeface="Liberation Serif"/>
              </a:rPr>
              <a:t>‖</a:t>
            </a:r>
            <a:r>
              <a:rPr sz="1058" i="1" baseline="35000">
                <a:solidFill>
                  <a:srgbClr val="071D43"/>
                </a:solidFill>
                <a:latin typeface="Liberation Serif"/>
              </a:rPr>
              <a:t>2</a:t>
            </a:r>
            <a:r>
              <a:rPr sz="1512" i="1">
                <a:solidFill>
                  <a:srgbClr val="071D43"/>
                </a:solidFill>
                <a:latin typeface="Liberation Serif"/>
              </a:rPr>
              <a:t> ]</a:t>
            </a:r>
          </a:p>
        </p:txBody>
      </p:sp>
      <p:sp>
        <p:nvSpPr>
          <p:cNvPr id="40" name="Freeze training weights"/>
          <p:cNvSpPr/>
          <p:nvPr/>
        </p:nvSpPr>
        <p:spPr>
          <a:xfrm>
            <a:off x="6574536" y="2478024"/>
            <a:ext cx="0" cy="246888"/>
          </a:xfrm>
          <a:custGeom>
            <a:avLst/>
            <a:gdLst/>
            <a:ahLst/>
            <a:cxnLst/>
            <a:rect l="l" t="t" r="r" b="b"/>
            <a:pathLst>
              <a:path w="0" h="27">
                <a:moveTo>
                  <a:pt x="0" y="0"/>
                </a:moveTo>
                <a:lnTo>
                  <a:pt x="0" y="27"/>
                </a:lnTo>
              </a:path>
            </a:pathLst>
          </a:custGeom>
          <a:noFill/>
          <a:ln w="21945">
            <a:solidFill>
              <a:srgbClr val="008BA0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Freeze weights label"/>
          <p:cNvSpPr txBox="1"/>
          <p:nvPr/>
        </p:nvSpPr>
        <p:spPr>
          <a:xfrm>
            <a:off x="6748272" y="2487168"/>
            <a:ext cx="2231136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71D43"/>
                </a:solidFill>
                <a:latin typeface="Arial"/>
              </a:rPr>
              <a:t>Freeze trained weights</a:t>
            </a:r>
          </a:p>
        </p:txBody>
      </p:sp>
      <p:sp>
        <p:nvSpPr>
          <p:cNvPr id="42" name="Measured SPEN title"/>
          <p:cNvSpPr txBox="1"/>
          <p:nvPr/>
        </p:nvSpPr>
        <p:spPr>
          <a:xfrm>
            <a:off x="320040" y="3172968"/>
            <a:ext cx="1600200" cy="3474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44" b="0" i="0">
                <a:solidFill>
                  <a:srgbClr val="071D43"/>
                </a:solidFill>
                <a:latin typeface="Arial"/>
              </a:rPr>
              <a:t>Measured SPEN data 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44" b="0" i="0">
                <a:solidFill>
                  <a:srgbClr val="071D43"/>
                </a:solidFill>
                <a:latin typeface="Arial"/>
              </a:rPr>
              <a:t>(multi-coil, complex)</a:t>
            </a:r>
          </a:p>
        </p:txBody>
      </p:sp>
      <p:grpSp>
        <p:nvGrpSpPr>
          <p:cNvPr id="51" name="Measured SPEN data — four receiver coils"/>
          <p:cNvGrpSpPr/>
          <p:nvPr/>
        </p:nvGrpSpPr>
        <p:grpSpPr>
          <a:xfrm>
            <a:off x="626364" y="3547872"/>
            <a:ext cx="960120" cy="960120"/>
            <a:chOff x="626364" y="3547872"/>
            <a:chExt cx="960120" cy="960120"/>
          </a:xfrm>
        </p:grpSpPr>
        <p:pic>
          <p:nvPicPr>
            <p:cNvPr id="43" name="Measured SPEN data — four receiver coils coil 0" descr="observation_coil0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8660" y="3547872"/>
              <a:ext cx="877824" cy="877824"/>
            </a:xfrm>
            <a:prstGeom prst="rect">
              <a:avLst/>
            </a:prstGeom>
          </p:spPr>
        </p:pic>
        <p:sp>
          <p:nvSpPr>
            <p:cNvPr id="44" name="Measured SPEN data — four receiver coils outline 0"/>
            <p:cNvSpPr/>
            <p:nvPr/>
          </p:nvSpPr>
          <p:spPr>
            <a:xfrm>
              <a:off x="708660" y="3547872"/>
              <a:ext cx="877824" cy="877824"/>
            </a:xfrm>
            <a:prstGeom prst="rect">
              <a:avLst/>
            </a:prstGeom>
            <a:noFill/>
            <a:ln w="5029">
              <a:solidFill>
                <a:srgbClr val="37434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5" name="Measured SPEN data — four receiver coils coil 1" descr="observation_coil1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1228" y="3575304"/>
              <a:ext cx="877824" cy="877824"/>
            </a:xfrm>
            <a:prstGeom prst="rect">
              <a:avLst/>
            </a:prstGeom>
          </p:spPr>
        </p:pic>
        <p:sp>
          <p:nvSpPr>
            <p:cNvPr id="46" name="Measured SPEN data — four receiver coils outline 1"/>
            <p:cNvSpPr/>
            <p:nvPr/>
          </p:nvSpPr>
          <p:spPr>
            <a:xfrm>
              <a:off x="681228" y="3575304"/>
              <a:ext cx="877824" cy="877824"/>
            </a:xfrm>
            <a:prstGeom prst="rect">
              <a:avLst/>
            </a:prstGeom>
            <a:noFill/>
            <a:ln w="5029">
              <a:solidFill>
                <a:srgbClr val="37434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7" name="Measured SPEN data — four receiver coils coil 2" descr="observation_coil2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3796" y="3602736"/>
              <a:ext cx="877824" cy="877824"/>
            </a:xfrm>
            <a:prstGeom prst="rect">
              <a:avLst/>
            </a:prstGeom>
          </p:spPr>
        </p:pic>
        <p:sp>
          <p:nvSpPr>
            <p:cNvPr id="48" name="Measured SPEN data — four receiver coils outline 2"/>
            <p:cNvSpPr/>
            <p:nvPr/>
          </p:nvSpPr>
          <p:spPr>
            <a:xfrm>
              <a:off x="653796" y="3602736"/>
              <a:ext cx="877824" cy="877824"/>
            </a:xfrm>
            <a:prstGeom prst="rect">
              <a:avLst/>
            </a:prstGeom>
            <a:noFill/>
            <a:ln w="5029">
              <a:solidFill>
                <a:srgbClr val="37434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49" name="Measured SPEN data — four receiver coils coil 3" descr="observation_coil3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6364" y="3630168"/>
              <a:ext cx="877824" cy="877824"/>
            </a:xfrm>
            <a:prstGeom prst="rect">
              <a:avLst/>
            </a:prstGeom>
          </p:spPr>
        </p:pic>
        <p:sp>
          <p:nvSpPr>
            <p:cNvPr id="50" name="Measured SPEN data — four receiver coils outline 3"/>
            <p:cNvSpPr/>
            <p:nvPr/>
          </p:nvSpPr>
          <p:spPr>
            <a:xfrm>
              <a:off x="626364" y="3630168"/>
              <a:ext cx="877824" cy="877824"/>
            </a:xfrm>
            <a:prstGeom prst="rect">
              <a:avLst/>
            </a:prstGeom>
            <a:noFill/>
            <a:ln w="5029">
              <a:solidFill>
                <a:srgbClr val="37434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2" name="Measured PE axis"/>
          <p:cNvSpPr/>
          <p:nvPr/>
        </p:nvSpPr>
        <p:spPr>
          <a:xfrm>
            <a:off x="374904" y="3611880"/>
            <a:ext cx="0" cy="950976"/>
          </a:xfrm>
          <a:custGeom>
            <a:avLst/>
            <a:gdLst/>
            <a:ahLst/>
            <a:cxnLst/>
            <a:rect l="l" t="t" r="r" b="b"/>
            <a:pathLst>
              <a:path w="0" h="104">
                <a:moveTo>
                  <a:pt x="0" y="104"/>
                </a:moveTo>
                <a:lnTo>
                  <a:pt x="0" y="0"/>
                </a:lnTo>
              </a:path>
            </a:pathLst>
          </a:custGeom>
          <a:noFill/>
          <a:ln w="7315">
            <a:solidFill>
              <a:srgbClr val="33333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Measured PE axis label"/>
          <p:cNvSpPr txBox="1"/>
          <p:nvPr/>
        </p:nvSpPr>
        <p:spPr>
          <a:xfrm rot="16200000">
            <a:off x="-137160" y="4014215"/>
            <a:ext cx="850392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071D43"/>
                </a:solidFill>
                <a:latin typeface="Arial"/>
              </a:rPr>
              <a:t>PE (acquired rows)</a:t>
            </a:r>
          </a:p>
        </p:txBody>
      </p:sp>
      <p:sp>
        <p:nvSpPr>
          <p:cNvPr id="54" name="Measured RO axis"/>
          <p:cNvSpPr/>
          <p:nvPr/>
        </p:nvSpPr>
        <p:spPr>
          <a:xfrm>
            <a:off x="457200" y="4617720"/>
            <a:ext cx="1271016" cy="0"/>
          </a:xfrm>
          <a:custGeom>
            <a:avLst/>
            <a:gdLst/>
            <a:ahLst/>
            <a:cxnLst/>
            <a:rect l="l" t="t" r="r" b="b"/>
            <a:pathLst>
              <a:path w="139" h="0">
                <a:moveTo>
                  <a:pt x="0" y="0"/>
                </a:moveTo>
                <a:lnTo>
                  <a:pt x="139" y="0"/>
                </a:lnTo>
              </a:path>
            </a:pathLst>
          </a:custGeom>
          <a:noFill/>
          <a:ln w="7315">
            <a:solidFill>
              <a:srgbClr val="33333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Measured RO axis label"/>
          <p:cNvSpPr txBox="1"/>
          <p:nvPr/>
        </p:nvSpPr>
        <p:spPr>
          <a:xfrm>
            <a:off x="539496" y="4617720"/>
            <a:ext cx="1179576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071D43"/>
                </a:solidFill>
                <a:latin typeface="Arial"/>
              </a:rPr>
              <a:t>RO (after FFT)</a:t>
            </a:r>
          </a:p>
        </p:txBody>
      </p:sp>
      <p:sp>
        <p:nvSpPr>
          <p:cNvPr id="56" name="Scanner correction note"/>
          <p:cNvSpPr txBox="1"/>
          <p:nvPr/>
        </p:nvSpPr>
        <p:spPr>
          <a:xfrm>
            <a:off x="219456" y="4764024"/>
            <a:ext cx="1755648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071D43"/>
                </a:solidFill>
                <a:latin typeface="Arial"/>
              </a:rPr>
              <a:t>After scanner phase correction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071D43"/>
                </a:solidFill>
                <a:latin typeface="Arial"/>
              </a:rPr>
              <a:t>and RO FFT</a:t>
            </a:r>
          </a:p>
        </p:txBody>
      </p:sp>
      <p:sp>
        <p:nvSpPr>
          <p:cNvPr id="57" name="Calibration frame"/>
          <p:cNvSpPr/>
          <p:nvPr/>
        </p:nvSpPr>
        <p:spPr>
          <a:xfrm>
            <a:off x="1993392" y="3136392"/>
            <a:ext cx="4059936" cy="1847088"/>
          </a:xfrm>
          <a:prstGeom prst="roundRect">
            <a:avLst>
              <a:gd name="adj" fmla="val 1500"/>
            </a:avLst>
          </a:prstGeom>
          <a:solidFill>
            <a:srgbClr val="FAF3FD"/>
          </a:solidFill>
          <a:ln w="12801">
            <a:solidFill>
              <a:srgbClr val="B866CC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Calibration title"/>
          <p:cNvSpPr txBox="1"/>
          <p:nvPr/>
        </p:nvSpPr>
        <p:spPr>
          <a:xfrm>
            <a:off x="2459736" y="3182112"/>
            <a:ext cx="2862072" cy="3017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7F2597"/>
                </a:solidFill>
                <a:latin typeface="Arial"/>
              </a:rPr>
              <a:t>Calibration from measurements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7F2597"/>
                </a:solidFill>
                <a:latin typeface="Arial"/>
              </a:rPr>
              <a:t>(not ground-truth maps)</a:t>
            </a:r>
          </a:p>
        </p:txBody>
      </p:sp>
      <p:sp>
        <p:nvSpPr>
          <p:cNvPr id="59" name="Weighted adjoint frame"/>
          <p:cNvSpPr/>
          <p:nvPr/>
        </p:nvSpPr>
        <p:spPr>
          <a:xfrm>
            <a:off x="2075688" y="3749039"/>
            <a:ext cx="768096" cy="685800"/>
          </a:xfrm>
          <a:prstGeom prst="roundRect">
            <a:avLst>
              <a:gd name="adj" fmla="val 1500"/>
            </a:avLst>
          </a:prstGeom>
          <a:solidFill>
            <a:srgbClr val="F3E7F9"/>
          </a:solidFill>
          <a:ln w="11887">
            <a:solidFill>
              <a:srgbClr val="912C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Weighted adjoint label"/>
          <p:cNvSpPr txBox="1"/>
          <p:nvPr/>
        </p:nvSpPr>
        <p:spPr>
          <a:xfrm>
            <a:off x="2121408" y="3858768"/>
            <a:ext cx="676656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1" b="1" i="0">
                <a:solidFill>
                  <a:srgbClr val="7F2597"/>
                </a:solidFill>
                <a:latin typeface="Arial"/>
              </a:rPr>
              <a:t>Weighted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71" b="1" i="0">
                <a:solidFill>
                  <a:srgbClr val="7F2597"/>
                </a:solidFill>
                <a:latin typeface="Arial"/>
              </a:rPr>
              <a:t>InvA</a:t>
            </a:r>
          </a:p>
        </p:txBody>
      </p:sp>
      <p:sp>
        <p:nvSpPr>
          <p:cNvPr id="61" name="Weighted adjoint description"/>
          <p:cNvSpPr txBox="1"/>
          <p:nvPr/>
        </p:nvSpPr>
        <p:spPr>
          <a:xfrm>
            <a:off x="2093976" y="4169663"/>
            <a:ext cx="740664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6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936" i="1">
                <a:solidFill>
                  <a:srgbClr val="071D43"/>
                </a:solidFill>
                <a:latin typeface="Liberation Serif"/>
              </a:rPr>
              <a:t>(w</a:t>
            </a:r>
            <a:r>
              <a:rPr sz="655" i="1" baseline="35000">
                <a:solidFill>
                  <a:srgbClr val="071D43"/>
                </a:solidFill>
                <a:latin typeface="Liberation Serif"/>
              </a:rPr>
              <a:t>†</a:t>
            </a:r>
            <a:r>
              <a:rPr sz="936" i="1">
                <a:solidFill>
                  <a:srgbClr val="071D43"/>
                </a:solidFill>
                <a:latin typeface="Liberation Serif"/>
              </a:rPr>
              <a:t>, adjoint)</a:t>
            </a:r>
          </a:p>
        </p:txBody>
      </p:sp>
      <p:sp>
        <p:nvSpPr>
          <p:cNvPr id="62" name="Measured to calibration"/>
          <p:cNvSpPr/>
          <p:nvPr/>
        </p:nvSpPr>
        <p:spPr>
          <a:xfrm>
            <a:off x="1819656" y="4087368"/>
            <a:ext cx="246888" cy="0"/>
          </a:xfrm>
          <a:custGeom>
            <a:avLst/>
            <a:gdLst/>
            <a:ahLst/>
            <a:cxnLst/>
            <a:rect l="l" t="t" r="r" b="b"/>
            <a:pathLst>
              <a:path w="27" h="0">
                <a:moveTo>
                  <a:pt x="0" y="0"/>
                </a:moveTo>
                <a:lnTo>
                  <a:pt x="27" y="0"/>
                </a:lnTo>
              </a:path>
            </a:pathLst>
          </a:custGeom>
          <a:noFill/>
          <a:ln w="15544">
            <a:solidFill>
              <a:srgbClr val="912C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Weighted adjoint to coil images"/>
          <p:cNvSpPr/>
          <p:nvPr/>
        </p:nvSpPr>
        <p:spPr>
          <a:xfrm>
            <a:off x="2852928" y="4105656"/>
            <a:ext cx="182880" cy="0"/>
          </a:xfrm>
          <a:custGeom>
            <a:avLst/>
            <a:gdLst/>
            <a:ahLst/>
            <a:cxnLst/>
            <a:rect l="l" t="t" r="r" b="b"/>
            <a:pathLst>
              <a:path w="20" h="0">
                <a:moveTo>
                  <a:pt x="0" y="0"/>
                </a:moveTo>
                <a:lnTo>
                  <a:pt x="20" y="0"/>
                </a:lnTo>
              </a:path>
            </a:pathLst>
          </a:custGeom>
          <a:noFill/>
          <a:ln w="12801">
            <a:solidFill>
              <a:srgbClr val="912C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Complex coil images title"/>
          <p:cNvSpPr txBox="1"/>
          <p:nvPr/>
        </p:nvSpPr>
        <p:spPr>
          <a:xfrm>
            <a:off x="3081528" y="3529584"/>
            <a:ext cx="630936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82285"/>
                </a:solidFill>
                <a:latin typeface="Arial"/>
              </a:rPr>
              <a:t>Complex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82285"/>
                </a:solidFill>
                <a:latin typeface="Arial"/>
              </a:rPr>
              <a:t>coil images</a:t>
            </a:r>
          </a:p>
        </p:txBody>
      </p:sp>
      <p:sp>
        <p:nvSpPr>
          <p:cNvPr id="65" name="Complex coil symbol"/>
          <p:cNvSpPr txBox="1"/>
          <p:nvPr/>
        </p:nvSpPr>
        <p:spPr>
          <a:xfrm>
            <a:off x="3182112" y="3794760"/>
            <a:ext cx="429768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12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512" i="1">
                <a:solidFill>
                  <a:srgbClr val="071D43"/>
                </a:solidFill>
                <a:latin typeface="Liberation Serif"/>
              </a:rPr>
              <a:t>z</a:t>
            </a:r>
            <a:r>
              <a:rPr sz="1058" i="1" baseline="-22000">
                <a:solidFill>
                  <a:srgbClr val="071D43"/>
                </a:solidFill>
                <a:latin typeface="Liberation Serif"/>
              </a:rPr>
              <a:t>c</a:t>
            </a:r>
          </a:p>
        </p:txBody>
      </p:sp>
      <p:grpSp>
        <p:nvGrpSpPr>
          <p:cNvPr id="74" name="Native InvA coil images"/>
          <p:cNvGrpSpPr/>
          <p:nvPr/>
        </p:nvGrpSpPr>
        <p:grpSpPr>
          <a:xfrm>
            <a:off x="3063240" y="4005072"/>
            <a:ext cx="557784" cy="557784"/>
            <a:chOff x="3063240" y="4005072"/>
            <a:chExt cx="557784" cy="557784"/>
          </a:xfrm>
        </p:grpSpPr>
        <p:pic>
          <p:nvPicPr>
            <p:cNvPr id="66" name="Native InvA coil images coil 0" descr="coil_image0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45536" y="4005072"/>
              <a:ext cx="475488" cy="475488"/>
            </a:xfrm>
            <a:prstGeom prst="rect">
              <a:avLst/>
            </a:prstGeom>
          </p:spPr>
        </p:pic>
        <p:sp>
          <p:nvSpPr>
            <p:cNvPr id="67" name="Native InvA coil images outline 0"/>
            <p:cNvSpPr/>
            <p:nvPr/>
          </p:nvSpPr>
          <p:spPr>
            <a:xfrm>
              <a:off x="3145536" y="4005072"/>
              <a:ext cx="475488" cy="475488"/>
            </a:xfrm>
            <a:prstGeom prst="rect">
              <a:avLst/>
            </a:prstGeom>
            <a:noFill/>
            <a:ln w="5029">
              <a:solidFill>
                <a:srgbClr val="37434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68" name="Native InvA coil images coil 1" descr="coil_image1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118104" y="4032504"/>
              <a:ext cx="475488" cy="475488"/>
            </a:xfrm>
            <a:prstGeom prst="rect">
              <a:avLst/>
            </a:prstGeom>
          </p:spPr>
        </p:pic>
        <p:sp>
          <p:nvSpPr>
            <p:cNvPr id="69" name="Native InvA coil images outline 1"/>
            <p:cNvSpPr/>
            <p:nvPr/>
          </p:nvSpPr>
          <p:spPr>
            <a:xfrm>
              <a:off x="3118104" y="4032504"/>
              <a:ext cx="475488" cy="475488"/>
            </a:xfrm>
            <a:prstGeom prst="rect">
              <a:avLst/>
            </a:prstGeom>
            <a:noFill/>
            <a:ln w="5029">
              <a:solidFill>
                <a:srgbClr val="37434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70" name="Native InvA coil images coil 2" descr="coil_image2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090672" y="4059936"/>
              <a:ext cx="475488" cy="475488"/>
            </a:xfrm>
            <a:prstGeom prst="rect">
              <a:avLst/>
            </a:prstGeom>
          </p:spPr>
        </p:pic>
        <p:sp>
          <p:nvSpPr>
            <p:cNvPr id="71" name="Native InvA coil images outline 2"/>
            <p:cNvSpPr/>
            <p:nvPr/>
          </p:nvSpPr>
          <p:spPr>
            <a:xfrm>
              <a:off x="3090672" y="4059936"/>
              <a:ext cx="475488" cy="475488"/>
            </a:xfrm>
            <a:prstGeom prst="rect">
              <a:avLst/>
            </a:prstGeom>
            <a:noFill/>
            <a:ln w="5029">
              <a:solidFill>
                <a:srgbClr val="37434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72" name="Native InvA coil images coil 3" descr="coil_image3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063240" y="4087368"/>
              <a:ext cx="475488" cy="475488"/>
            </a:xfrm>
            <a:prstGeom prst="rect">
              <a:avLst/>
            </a:prstGeom>
          </p:spPr>
        </p:pic>
        <p:sp>
          <p:nvSpPr>
            <p:cNvPr id="73" name="Native InvA coil images outline 3"/>
            <p:cNvSpPr/>
            <p:nvPr/>
          </p:nvSpPr>
          <p:spPr>
            <a:xfrm>
              <a:off x="3063240" y="4087368"/>
              <a:ext cx="475488" cy="475488"/>
            </a:xfrm>
            <a:prstGeom prst="rect">
              <a:avLst/>
            </a:prstGeom>
            <a:noFill/>
            <a:ln w="5029">
              <a:solidFill>
                <a:srgbClr val="37434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75" name="Multiple coils ellipsis"/>
          <p:cNvSpPr txBox="1"/>
          <p:nvPr/>
        </p:nvSpPr>
        <p:spPr>
          <a:xfrm>
            <a:off x="3630168" y="4160520"/>
            <a:ext cx="13716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0" i="0">
                <a:solidFill>
                  <a:srgbClr val="071D43"/>
                </a:solidFill>
                <a:latin typeface="Arial"/>
              </a:rPr>
              <a:t>…</a:t>
            </a:r>
          </a:p>
        </p:txBody>
      </p:sp>
      <p:sp>
        <p:nvSpPr>
          <p:cNvPr id="76" name="Coil images to normalization"/>
          <p:cNvSpPr/>
          <p:nvPr/>
        </p:nvSpPr>
        <p:spPr>
          <a:xfrm>
            <a:off x="3657600" y="4123944"/>
            <a:ext cx="201168" cy="0"/>
          </a:xfrm>
          <a:custGeom>
            <a:avLst/>
            <a:gdLst/>
            <a:ahLst/>
            <a:cxnLst/>
            <a:rect l="l" t="t" r="r" b="b"/>
            <a:pathLst>
              <a:path w="22" h="0">
                <a:moveTo>
                  <a:pt x="0" y="0"/>
                </a:moveTo>
                <a:lnTo>
                  <a:pt x="22" y="0"/>
                </a:lnTo>
              </a:path>
            </a:pathLst>
          </a:custGeom>
          <a:noFill/>
          <a:ln w="10972">
            <a:solidFill>
              <a:srgbClr val="912C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Normalization frame"/>
          <p:cNvSpPr/>
          <p:nvPr/>
        </p:nvSpPr>
        <p:spPr>
          <a:xfrm>
            <a:off x="3877056" y="3867912"/>
            <a:ext cx="658368" cy="512064"/>
          </a:xfrm>
          <a:prstGeom prst="roundRect">
            <a:avLst>
              <a:gd name="adj" fmla="val 1500"/>
            </a:avLst>
          </a:prstGeom>
          <a:solidFill>
            <a:srgbClr val="FCF6FF"/>
          </a:solidFill>
          <a:ln w="10972">
            <a:solidFill>
              <a:srgbClr val="912C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Normalization left"/>
          <p:cNvSpPr txBox="1"/>
          <p:nvPr/>
        </p:nvSpPr>
        <p:spPr>
          <a:xfrm>
            <a:off x="3904487" y="3959352"/>
            <a:ext cx="27432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080" i="1">
                <a:solidFill>
                  <a:srgbClr val="071D43"/>
                </a:solidFill>
                <a:latin typeface="Liberation Serif"/>
              </a:rPr>
              <a:t>Ŝ</a:t>
            </a:r>
            <a:r>
              <a:rPr sz="755" i="1" baseline="-22000">
                <a:solidFill>
                  <a:srgbClr val="071D43"/>
                </a:solidFill>
                <a:latin typeface="Liberation Serif"/>
              </a:rPr>
              <a:t>c</a:t>
            </a:r>
            <a:r>
              <a:rPr sz="1080" i="1">
                <a:solidFill>
                  <a:srgbClr val="071D43"/>
                </a:solidFill>
                <a:latin typeface="Liberation Serif"/>
              </a:rPr>
              <a:t> =</a:t>
            </a:r>
          </a:p>
        </p:txBody>
      </p:sp>
      <p:sp>
        <p:nvSpPr>
          <p:cNvPr id="79" name="Normalization ratio numerator"/>
          <p:cNvSpPr txBox="1"/>
          <p:nvPr/>
        </p:nvSpPr>
        <p:spPr>
          <a:xfrm>
            <a:off x="4187952" y="3913632"/>
            <a:ext cx="310896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8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008" i="1">
                <a:solidFill>
                  <a:srgbClr val="071D43"/>
                </a:solidFill>
                <a:latin typeface="Liberation Serif"/>
              </a:rPr>
              <a:t>z</a:t>
            </a:r>
            <a:r>
              <a:rPr sz="705" i="1" baseline="-22000">
                <a:solidFill>
                  <a:srgbClr val="071D43"/>
                </a:solidFill>
                <a:latin typeface="Liberation Serif"/>
              </a:rPr>
              <a:t>c</a:t>
            </a:r>
          </a:p>
        </p:txBody>
      </p:sp>
      <p:sp>
        <p:nvSpPr>
          <p:cNvPr id="80" name="Normalization ratio fraction bar"/>
          <p:cNvSpPr/>
          <p:nvPr/>
        </p:nvSpPr>
        <p:spPr>
          <a:xfrm>
            <a:off x="4206240" y="4069080"/>
            <a:ext cx="274320" cy="0"/>
          </a:xfrm>
          <a:custGeom>
            <a:avLst/>
            <a:gdLst/>
            <a:ahLst/>
            <a:cxnLst/>
            <a:rect l="l" t="t" r="r" b="b"/>
            <a:pathLst>
              <a:path w="30" h="0">
                <a:moveTo>
                  <a:pt x="0" y="0"/>
                </a:moveTo>
                <a:lnTo>
                  <a:pt x="30" y="0"/>
                </a:lnTo>
              </a:path>
            </a:pathLst>
          </a:custGeom>
          <a:noFill/>
          <a:ln w="7315">
            <a:solidFill>
              <a:srgbClr val="071D4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Normalization ratio denominator"/>
          <p:cNvSpPr txBox="1"/>
          <p:nvPr/>
        </p:nvSpPr>
        <p:spPr>
          <a:xfrm>
            <a:off x="4187952" y="4078224"/>
            <a:ext cx="310896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8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008" i="1">
                <a:solidFill>
                  <a:srgbClr val="071D43"/>
                </a:solidFill>
                <a:latin typeface="Liberation Serif"/>
              </a:rPr>
              <a:t>RSS(z)</a:t>
            </a:r>
          </a:p>
        </p:txBody>
      </p:sp>
      <p:sp>
        <p:nvSpPr>
          <p:cNvPr id="82" name="Magnitude map title"/>
          <p:cNvSpPr txBox="1"/>
          <p:nvPr/>
        </p:nvSpPr>
        <p:spPr>
          <a:xfrm>
            <a:off x="4645152" y="3502152"/>
            <a:ext cx="566928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82285"/>
                </a:solidFill>
                <a:latin typeface="Arial"/>
              </a:rPr>
              <a:t>Magnitude</a:t>
            </a:r>
          </a:p>
        </p:txBody>
      </p:sp>
      <p:sp>
        <p:nvSpPr>
          <p:cNvPr id="83" name="Magnitude map symbol"/>
          <p:cNvSpPr txBox="1"/>
          <p:nvPr/>
        </p:nvSpPr>
        <p:spPr>
          <a:xfrm>
            <a:off x="4709160" y="3648456"/>
            <a:ext cx="457200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6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296" i="1">
                <a:solidFill>
                  <a:srgbClr val="071D43"/>
                </a:solidFill>
                <a:latin typeface="Liberation Serif"/>
              </a:rPr>
              <a:t>|Ŝ</a:t>
            </a:r>
            <a:r>
              <a:rPr sz="907" i="1" baseline="-22000">
                <a:solidFill>
                  <a:srgbClr val="071D43"/>
                </a:solidFill>
                <a:latin typeface="Liberation Serif"/>
              </a:rPr>
              <a:t>c</a:t>
            </a:r>
            <a:r>
              <a:rPr sz="1296" i="1">
                <a:solidFill>
                  <a:srgbClr val="071D43"/>
                </a:solidFill>
                <a:latin typeface="Liberation Serif"/>
              </a:rPr>
              <a:t>|</a:t>
            </a:r>
          </a:p>
        </p:txBody>
      </p:sp>
      <p:grpSp>
        <p:nvGrpSpPr>
          <p:cNvPr id="92" name="Fixed 192-grid coil magnitudes"/>
          <p:cNvGrpSpPr/>
          <p:nvPr/>
        </p:nvGrpSpPr>
        <p:grpSpPr>
          <a:xfrm>
            <a:off x="4636008" y="3831336"/>
            <a:ext cx="548640" cy="548640"/>
            <a:chOff x="4636008" y="3831336"/>
            <a:chExt cx="548640" cy="548640"/>
          </a:xfrm>
        </p:grpSpPr>
        <p:pic>
          <p:nvPicPr>
            <p:cNvPr id="84" name="Fixed 192-grid coil magnitudes coil 0" descr="coil_magnitude0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718304" y="3831336"/>
              <a:ext cx="466344" cy="466344"/>
            </a:xfrm>
            <a:prstGeom prst="rect">
              <a:avLst/>
            </a:prstGeom>
          </p:spPr>
        </p:pic>
        <p:sp>
          <p:nvSpPr>
            <p:cNvPr id="85" name="Fixed 192-grid coil magnitudes outline 0"/>
            <p:cNvSpPr/>
            <p:nvPr/>
          </p:nvSpPr>
          <p:spPr>
            <a:xfrm>
              <a:off x="4718304" y="3831336"/>
              <a:ext cx="466344" cy="466344"/>
            </a:xfrm>
            <a:prstGeom prst="rect">
              <a:avLst/>
            </a:prstGeom>
            <a:noFill/>
            <a:ln w="5029">
              <a:solidFill>
                <a:srgbClr val="37434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86" name="Fixed 192-grid coil magnitudes coil 1" descr="coil_magnitude1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690872" y="3858768"/>
              <a:ext cx="466344" cy="466344"/>
            </a:xfrm>
            <a:prstGeom prst="rect">
              <a:avLst/>
            </a:prstGeom>
          </p:spPr>
        </p:pic>
        <p:sp>
          <p:nvSpPr>
            <p:cNvPr id="87" name="Fixed 192-grid coil magnitudes outline 1"/>
            <p:cNvSpPr/>
            <p:nvPr/>
          </p:nvSpPr>
          <p:spPr>
            <a:xfrm>
              <a:off x="4690872" y="3858768"/>
              <a:ext cx="466344" cy="466344"/>
            </a:xfrm>
            <a:prstGeom prst="rect">
              <a:avLst/>
            </a:prstGeom>
            <a:noFill/>
            <a:ln w="5029">
              <a:solidFill>
                <a:srgbClr val="37434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88" name="Fixed 192-grid coil magnitudes coil 2" descr="coil_magnitude2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663440" y="3886200"/>
              <a:ext cx="466344" cy="466344"/>
            </a:xfrm>
            <a:prstGeom prst="rect">
              <a:avLst/>
            </a:prstGeom>
          </p:spPr>
        </p:pic>
        <p:sp>
          <p:nvSpPr>
            <p:cNvPr id="89" name="Fixed 192-grid coil magnitudes outline 2"/>
            <p:cNvSpPr/>
            <p:nvPr/>
          </p:nvSpPr>
          <p:spPr>
            <a:xfrm>
              <a:off x="4663440" y="3886200"/>
              <a:ext cx="466344" cy="466344"/>
            </a:xfrm>
            <a:prstGeom prst="rect">
              <a:avLst/>
            </a:prstGeom>
            <a:noFill/>
            <a:ln w="5029">
              <a:solidFill>
                <a:srgbClr val="37434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90" name="Fixed 192-grid coil magnitudes coil 3" descr="coil_magnitude3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636008" y="3913632"/>
              <a:ext cx="466344" cy="466344"/>
            </a:xfrm>
            <a:prstGeom prst="rect">
              <a:avLst/>
            </a:prstGeom>
          </p:spPr>
        </p:pic>
        <p:sp>
          <p:nvSpPr>
            <p:cNvPr id="91" name="Fixed 192-grid coil magnitudes outline 3"/>
            <p:cNvSpPr/>
            <p:nvPr/>
          </p:nvSpPr>
          <p:spPr>
            <a:xfrm>
              <a:off x="4636008" y="3913632"/>
              <a:ext cx="466344" cy="466344"/>
            </a:xfrm>
            <a:prstGeom prst="rect">
              <a:avLst/>
            </a:prstGeom>
            <a:noFill/>
            <a:ln w="5029">
              <a:solidFill>
                <a:srgbClr val="37434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93" name="Map ellipsis"/>
          <p:cNvSpPr txBox="1"/>
          <p:nvPr/>
        </p:nvSpPr>
        <p:spPr>
          <a:xfrm>
            <a:off x="5202936" y="3977639"/>
            <a:ext cx="146304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0" i="0">
                <a:solidFill>
                  <a:srgbClr val="071D43"/>
                </a:solidFill>
                <a:latin typeface="Arial"/>
              </a:rPr>
              <a:t>…</a:t>
            </a:r>
          </a:p>
        </p:txBody>
      </p:sp>
      <p:sp>
        <p:nvSpPr>
          <p:cNvPr id="94" name="Phase map title"/>
          <p:cNvSpPr txBox="1"/>
          <p:nvPr/>
        </p:nvSpPr>
        <p:spPr>
          <a:xfrm>
            <a:off x="5394960" y="3502152"/>
            <a:ext cx="502920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682285"/>
                </a:solidFill>
                <a:latin typeface="Arial"/>
              </a:rPr>
              <a:t>Phase</a:t>
            </a:r>
          </a:p>
        </p:txBody>
      </p:sp>
      <p:sp>
        <p:nvSpPr>
          <p:cNvPr id="95" name="Phase map symbol"/>
          <p:cNvSpPr txBox="1"/>
          <p:nvPr/>
        </p:nvSpPr>
        <p:spPr>
          <a:xfrm>
            <a:off x="5376672" y="3657600"/>
            <a:ext cx="539496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6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296" i="1">
                <a:solidFill>
                  <a:srgbClr val="071D43"/>
                </a:solidFill>
                <a:latin typeface="Liberation Serif"/>
              </a:rPr>
              <a:t>∠Ŝ</a:t>
            </a:r>
            <a:r>
              <a:rPr sz="907" i="1" baseline="-22000">
                <a:solidFill>
                  <a:srgbClr val="071D43"/>
                </a:solidFill>
                <a:latin typeface="Liberation Serif"/>
              </a:rPr>
              <a:t>c</a:t>
            </a:r>
          </a:p>
        </p:txBody>
      </p:sp>
      <p:grpSp>
        <p:nvGrpSpPr>
          <p:cNvPr id="104" name="Actual fixed coil phases"/>
          <p:cNvGrpSpPr/>
          <p:nvPr/>
        </p:nvGrpSpPr>
        <p:grpSpPr>
          <a:xfrm>
            <a:off x="5330952" y="3831336"/>
            <a:ext cx="493776" cy="493776"/>
            <a:chOff x="5330952" y="3831336"/>
            <a:chExt cx="493776" cy="493776"/>
          </a:xfrm>
        </p:grpSpPr>
        <p:pic>
          <p:nvPicPr>
            <p:cNvPr id="96" name="Actual fixed coil phases coil 0" descr="coil_phase0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413248" y="3831336"/>
              <a:ext cx="411480" cy="411480"/>
            </a:xfrm>
            <a:prstGeom prst="rect">
              <a:avLst/>
            </a:prstGeom>
          </p:spPr>
        </p:pic>
        <p:sp>
          <p:nvSpPr>
            <p:cNvPr id="97" name="Actual fixed coil phases outline 0"/>
            <p:cNvSpPr/>
            <p:nvPr/>
          </p:nvSpPr>
          <p:spPr>
            <a:xfrm>
              <a:off x="5413248" y="3831336"/>
              <a:ext cx="411480" cy="411480"/>
            </a:xfrm>
            <a:prstGeom prst="rect">
              <a:avLst/>
            </a:prstGeom>
            <a:noFill/>
            <a:ln w="5029">
              <a:solidFill>
                <a:srgbClr val="37434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98" name="Actual fixed coil phases coil 1" descr="coil_phase1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385816" y="3858768"/>
              <a:ext cx="411480" cy="411480"/>
            </a:xfrm>
            <a:prstGeom prst="rect">
              <a:avLst/>
            </a:prstGeom>
          </p:spPr>
        </p:pic>
        <p:sp>
          <p:nvSpPr>
            <p:cNvPr id="99" name="Actual fixed coil phases outline 1"/>
            <p:cNvSpPr/>
            <p:nvPr/>
          </p:nvSpPr>
          <p:spPr>
            <a:xfrm>
              <a:off x="5385816" y="3858768"/>
              <a:ext cx="411480" cy="411480"/>
            </a:xfrm>
            <a:prstGeom prst="rect">
              <a:avLst/>
            </a:prstGeom>
            <a:noFill/>
            <a:ln w="5029">
              <a:solidFill>
                <a:srgbClr val="37434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00" name="Actual fixed coil phases coil 2" descr="coil_phase2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358384" y="3886200"/>
              <a:ext cx="411480" cy="411480"/>
            </a:xfrm>
            <a:prstGeom prst="rect">
              <a:avLst/>
            </a:prstGeom>
          </p:spPr>
        </p:pic>
        <p:sp>
          <p:nvSpPr>
            <p:cNvPr id="101" name="Actual fixed coil phases outline 2"/>
            <p:cNvSpPr/>
            <p:nvPr/>
          </p:nvSpPr>
          <p:spPr>
            <a:xfrm>
              <a:off x="5358384" y="3886200"/>
              <a:ext cx="411480" cy="411480"/>
            </a:xfrm>
            <a:prstGeom prst="rect">
              <a:avLst/>
            </a:prstGeom>
            <a:noFill/>
            <a:ln w="5029">
              <a:solidFill>
                <a:srgbClr val="37434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102" name="Actual fixed coil phases coil 3" descr="coil_phase3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5330952" y="3913632"/>
              <a:ext cx="411480" cy="411480"/>
            </a:xfrm>
            <a:prstGeom prst="rect">
              <a:avLst/>
            </a:prstGeom>
          </p:spPr>
        </p:pic>
        <p:sp>
          <p:nvSpPr>
            <p:cNvPr id="103" name="Actual fixed coil phases outline 3"/>
            <p:cNvSpPr/>
            <p:nvPr/>
          </p:nvSpPr>
          <p:spPr>
            <a:xfrm>
              <a:off x="5330952" y="3913632"/>
              <a:ext cx="411480" cy="411480"/>
            </a:xfrm>
            <a:prstGeom prst="rect">
              <a:avLst/>
            </a:prstGeom>
            <a:noFill/>
            <a:ln w="5029">
              <a:solidFill>
                <a:srgbClr val="37434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pic>
        <p:nvPicPr>
          <p:cNvPr id="105" name="Coil phase colorbar" descr="coil_colorbar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872233" y="3840480"/>
            <a:ext cx="42148" cy="539496"/>
          </a:xfrm>
          <a:prstGeom prst="rect">
            <a:avLst/>
          </a:prstGeom>
        </p:spPr>
      </p:pic>
      <p:sp>
        <p:nvSpPr>
          <p:cNvPr id="106" name="Coil colorbar positive"/>
          <p:cNvSpPr txBox="1"/>
          <p:nvPr/>
        </p:nvSpPr>
        <p:spPr>
          <a:xfrm>
            <a:off x="5925312" y="3776472"/>
            <a:ext cx="109728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76" b="0" i="0">
                <a:solidFill>
                  <a:srgbClr val="071D43"/>
                </a:solidFill>
                <a:latin typeface="Arial"/>
              </a:rPr>
              <a:t>π</a:t>
            </a:r>
          </a:p>
        </p:txBody>
      </p:sp>
      <p:sp>
        <p:nvSpPr>
          <p:cNvPr id="107" name="Coil colorbar zero"/>
          <p:cNvSpPr txBox="1"/>
          <p:nvPr/>
        </p:nvSpPr>
        <p:spPr>
          <a:xfrm>
            <a:off x="5925312" y="4032504"/>
            <a:ext cx="109728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76" b="0" i="0">
                <a:solidFill>
                  <a:srgbClr val="071D43"/>
                </a:solidFill>
                <a:latin typeface="Arial"/>
              </a:rPr>
              <a:t>0</a:t>
            </a:r>
          </a:p>
        </p:txBody>
      </p:sp>
      <p:sp>
        <p:nvSpPr>
          <p:cNvPr id="108" name="Coil colorbar negative"/>
          <p:cNvSpPr txBox="1"/>
          <p:nvPr/>
        </p:nvSpPr>
        <p:spPr>
          <a:xfrm>
            <a:off x="5916168" y="4270248"/>
            <a:ext cx="137160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76" b="0" i="0">
                <a:solidFill>
                  <a:srgbClr val="071D43"/>
                </a:solidFill>
                <a:latin typeface="Arial"/>
              </a:rPr>
              <a:t>−π</a:t>
            </a:r>
          </a:p>
        </p:txBody>
      </p:sp>
      <p:sp>
        <p:nvSpPr>
          <p:cNvPr id="109" name="Fixed coil fractions note"/>
          <p:cNvSpPr txBox="1"/>
          <p:nvPr/>
        </p:nvSpPr>
        <p:spPr>
          <a:xfrm>
            <a:off x="3118104" y="4599432"/>
            <a:ext cx="2852928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92498"/>
                </a:solidFill>
                <a:latin typeface="Arial"/>
              </a:rPr>
              <a:t>Fixed complex coil fractions: coil + object phase</a:t>
            </a:r>
          </a:p>
        </p:txBody>
      </p:sp>
      <p:sp>
        <p:nvSpPr>
          <p:cNvPr id="110" name="Coil interpolation note"/>
          <p:cNvSpPr txBox="1"/>
          <p:nvPr/>
        </p:nvSpPr>
        <p:spPr>
          <a:xfrm>
            <a:off x="3419856" y="4782312"/>
            <a:ext cx="2450592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792498"/>
                </a:solidFill>
                <a:latin typeface="Arial"/>
              </a:rPr>
              <a:t>Interpolate and normalize for finer grids</a:t>
            </a:r>
          </a:p>
        </p:txBody>
      </p:sp>
      <p:sp>
        <p:nvSpPr>
          <p:cNvPr id="111" name="Calibration into physics"/>
          <p:cNvSpPr/>
          <p:nvPr/>
        </p:nvSpPr>
        <p:spPr>
          <a:xfrm>
            <a:off x="2926080" y="4645152"/>
            <a:ext cx="0" cy="530352"/>
          </a:xfrm>
          <a:custGeom>
            <a:avLst/>
            <a:gdLst/>
            <a:ahLst/>
            <a:cxnLst/>
            <a:rect l="l" t="t" r="r" b="b"/>
            <a:pathLst>
              <a:path w="0" h="58">
                <a:moveTo>
                  <a:pt x="0" y="0"/>
                </a:moveTo>
                <a:lnTo>
                  <a:pt x="0" y="58"/>
                </a:lnTo>
              </a:path>
            </a:pathLst>
          </a:custGeom>
          <a:noFill/>
          <a:ln w="15544">
            <a:solidFill>
              <a:srgbClr val="912C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Gaussian initialization label"/>
          <p:cNvSpPr txBox="1"/>
          <p:nvPr/>
        </p:nvSpPr>
        <p:spPr>
          <a:xfrm>
            <a:off x="6217920" y="3145536"/>
            <a:ext cx="923544" cy="3566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071D43"/>
                </a:solidFill>
                <a:latin typeface="Arial"/>
              </a:rPr>
              <a:t>Gaussian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071D43"/>
                </a:solidFill>
                <a:latin typeface="Arial"/>
              </a:rPr>
              <a:t>initialization</a:t>
            </a:r>
          </a:p>
        </p:txBody>
      </p:sp>
      <p:pic>
        <p:nvPicPr>
          <p:cNvPr id="113" name="Gaussian initialization — seeded array" descr="initial_nois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00216" y="3593592"/>
            <a:ext cx="749808" cy="749808"/>
          </a:xfrm>
          <a:prstGeom prst="rect">
            <a:avLst/>
          </a:prstGeom>
        </p:spPr>
      </p:pic>
      <p:sp>
        <p:nvSpPr>
          <p:cNvPr id="114" name="Initial noise to frozen U-Net"/>
          <p:cNvSpPr/>
          <p:nvPr/>
        </p:nvSpPr>
        <p:spPr>
          <a:xfrm>
            <a:off x="7086600" y="3995928"/>
            <a:ext cx="173736" cy="0"/>
          </a:xfrm>
          <a:custGeom>
            <a:avLst/>
            <a:gdLst/>
            <a:ahLst/>
            <a:cxnLst/>
            <a:rect l="l" t="t" r="r" b="b"/>
            <a:pathLst>
              <a:path w="19" h="0">
                <a:moveTo>
                  <a:pt x="0" y="0"/>
                </a:moveTo>
                <a:lnTo>
                  <a:pt x="19" y="0"/>
                </a:lnTo>
              </a:path>
            </a:pathLst>
          </a:custGeom>
          <a:noFill/>
          <a:ln w="13716">
            <a:solidFill>
              <a:srgbClr val="146CA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Frozen denoiser label"/>
          <p:cNvSpPr txBox="1"/>
          <p:nvPr/>
        </p:nvSpPr>
        <p:spPr>
          <a:xfrm>
            <a:off x="7232904" y="3191256"/>
            <a:ext cx="1353312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155084"/>
                </a:solidFill>
                <a:latin typeface="Arial"/>
              </a:rPr>
              <a:t>Frozen denoiser</a:t>
            </a:r>
          </a:p>
        </p:txBody>
      </p:sp>
      <p:sp>
        <p:nvSpPr>
          <p:cNvPr id="116" name="Frozen denoiser formula"/>
          <p:cNvSpPr txBox="1"/>
          <p:nvPr/>
        </p:nvSpPr>
        <p:spPr>
          <a:xfrm>
            <a:off x="7616952" y="3383280"/>
            <a:ext cx="521207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5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655" i="1">
                <a:solidFill>
                  <a:srgbClr val="071D43"/>
                </a:solidFill>
                <a:latin typeface="Liberation Serif"/>
              </a:rPr>
              <a:t>D</a:t>
            </a:r>
            <a:r>
              <a:rPr sz="1159" i="1" baseline="-22000">
                <a:solidFill>
                  <a:srgbClr val="071D43"/>
                </a:solidFill>
                <a:latin typeface="Liberation Serif"/>
              </a:rPr>
              <a:t>θ</a:t>
            </a:r>
          </a:p>
        </p:txBody>
      </p:sp>
      <p:grpSp>
        <p:nvGrpSpPr>
          <p:cNvPr id="128" name="Frozen denoiser U-Net"/>
          <p:cNvGrpSpPr/>
          <p:nvPr/>
        </p:nvGrpSpPr>
        <p:grpSpPr>
          <a:xfrm>
            <a:off x="7278624" y="3621024"/>
            <a:ext cx="1188719" cy="731520"/>
            <a:chOff x="7278624" y="3621024"/>
            <a:chExt cx="1188719" cy="731520"/>
          </a:xfrm>
        </p:grpSpPr>
        <p:sp>
          <p:nvSpPr>
            <p:cNvPr id="117" name="Frozen denoiser U-Net block 1"/>
            <p:cNvSpPr/>
            <p:nvPr/>
          </p:nvSpPr>
          <p:spPr>
            <a:xfrm>
              <a:off x="7278624" y="3621024"/>
              <a:ext cx="130759" cy="731520"/>
            </a:xfrm>
            <a:prstGeom prst="rect">
              <a:avLst/>
            </a:prstGeom>
            <a:solidFill>
              <a:srgbClr val="54A4E1"/>
            </a:solidFill>
            <a:ln w="9144">
              <a:solidFill>
                <a:srgbClr val="3589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Frozen denoiser U-Net block 2"/>
            <p:cNvSpPr/>
            <p:nvPr/>
          </p:nvSpPr>
          <p:spPr>
            <a:xfrm>
              <a:off x="7445044" y="3760012"/>
              <a:ext cx="118872" cy="512064"/>
            </a:xfrm>
            <a:prstGeom prst="rect">
              <a:avLst/>
            </a:prstGeom>
            <a:solidFill>
              <a:srgbClr val="54A4E1"/>
            </a:solidFill>
            <a:ln w="9144">
              <a:solidFill>
                <a:srgbClr val="3589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Frozen denoiser U-Net block 3"/>
            <p:cNvSpPr/>
            <p:nvPr/>
          </p:nvSpPr>
          <p:spPr>
            <a:xfrm>
              <a:off x="7587691" y="3891686"/>
              <a:ext cx="118872" cy="292608"/>
            </a:xfrm>
            <a:prstGeom prst="rect">
              <a:avLst/>
            </a:prstGeom>
            <a:solidFill>
              <a:srgbClr val="54A4E1"/>
            </a:solidFill>
            <a:ln w="9144">
              <a:solidFill>
                <a:srgbClr val="3589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" name="Frozen denoiser U-Net block 4"/>
            <p:cNvSpPr/>
            <p:nvPr/>
          </p:nvSpPr>
          <p:spPr>
            <a:xfrm>
              <a:off x="8027517" y="3891686"/>
              <a:ext cx="118872" cy="292608"/>
            </a:xfrm>
            <a:prstGeom prst="rect">
              <a:avLst/>
            </a:prstGeom>
            <a:solidFill>
              <a:srgbClr val="54A4E1"/>
            </a:solidFill>
            <a:ln w="9144">
              <a:solidFill>
                <a:srgbClr val="3589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Frozen denoiser U-Net block 5"/>
            <p:cNvSpPr/>
            <p:nvPr/>
          </p:nvSpPr>
          <p:spPr>
            <a:xfrm>
              <a:off x="8182051" y="3760012"/>
              <a:ext cx="118872" cy="512064"/>
            </a:xfrm>
            <a:prstGeom prst="rect">
              <a:avLst/>
            </a:prstGeom>
            <a:solidFill>
              <a:srgbClr val="54A4E1"/>
            </a:solidFill>
            <a:ln w="9144">
              <a:solidFill>
                <a:srgbClr val="3589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Frozen denoiser U-Net block 6"/>
            <p:cNvSpPr/>
            <p:nvPr/>
          </p:nvSpPr>
          <p:spPr>
            <a:xfrm>
              <a:off x="8336584" y="3621024"/>
              <a:ext cx="130759" cy="731520"/>
            </a:xfrm>
            <a:prstGeom prst="rect">
              <a:avLst/>
            </a:prstGeom>
            <a:solidFill>
              <a:srgbClr val="54A4E1"/>
            </a:solidFill>
            <a:ln w="9144">
              <a:solidFill>
                <a:srgbClr val="3589BE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Frozen denoiser U-Net outer skip"/>
            <p:cNvSpPr/>
            <p:nvPr/>
          </p:nvSpPr>
          <p:spPr>
            <a:xfrm>
              <a:off x="7479792" y="3685032"/>
              <a:ext cx="804672" cy="64008"/>
            </a:xfrm>
            <a:custGeom>
              <a:avLst/>
              <a:gdLst/>
              <a:ahLst/>
              <a:cxnLst/>
              <a:rect l="l" t="t" r="r" b="b"/>
              <a:pathLst>
                <a:path w="88" h="7">
                  <a:moveTo>
                    <a:pt x="0" y="7"/>
                  </a:moveTo>
                  <a:lnTo>
                    <a:pt x="0" y="0"/>
                  </a:lnTo>
                  <a:lnTo>
                    <a:pt x="88" y="0"/>
                  </a:lnTo>
                </a:path>
              </a:pathLst>
            </a:custGeom>
            <a:noFill/>
            <a:ln w="12801">
              <a:solidFill>
                <a:srgbClr val="146CA5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Frozen denoiser U-Net inner skip"/>
            <p:cNvSpPr/>
            <p:nvPr/>
          </p:nvSpPr>
          <p:spPr>
            <a:xfrm>
              <a:off x="7644384" y="3822192"/>
              <a:ext cx="475488" cy="64008"/>
            </a:xfrm>
            <a:custGeom>
              <a:avLst/>
              <a:gdLst/>
              <a:ahLst/>
              <a:cxnLst/>
              <a:rect l="l" t="t" r="r" b="b"/>
              <a:pathLst>
                <a:path w="52" h="7">
                  <a:moveTo>
                    <a:pt x="0" y="7"/>
                  </a:moveTo>
                  <a:lnTo>
                    <a:pt x="0" y="0"/>
                  </a:lnTo>
                  <a:lnTo>
                    <a:pt x="52" y="0"/>
                  </a:lnTo>
                </a:path>
              </a:pathLst>
            </a:custGeom>
            <a:noFill/>
            <a:ln w="12801">
              <a:solidFill>
                <a:srgbClr val="146CA5"/>
              </a:solidFill>
              <a:tailEnd type="triangle" w="med" len="med"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" name="Frozen denoiser U-Net ellipsis 1"/>
            <p:cNvSpPr/>
            <p:nvPr/>
          </p:nvSpPr>
          <p:spPr>
            <a:xfrm>
              <a:off x="7813548" y="4037990"/>
              <a:ext cx="27432" cy="27432"/>
            </a:xfrm>
            <a:prstGeom prst="ellipse">
              <a:avLst/>
            </a:prstGeom>
            <a:solidFill>
              <a:srgbClr val="146CA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" name="Frozen denoiser U-Net ellipsis 2"/>
            <p:cNvSpPr/>
            <p:nvPr/>
          </p:nvSpPr>
          <p:spPr>
            <a:xfrm>
              <a:off x="7868229" y="4037990"/>
              <a:ext cx="27432" cy="27432"/>
            </a:xfrm>
            <a:prstGeom prst="ellipse">
              <a:avLst/>
            </a:prstGeom>
            <a:solidFill>
              <a:srgbClr val="146CA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Frozen denoiser U-Net ellipsis 3"/>
            <p:cNvSpPr/>
            <p:nvPr/>
          </p:nvSpPr>
          <p:spPr>
            <a:xfrm>
              <a:off x="7922910" y="4037990"/>
              <a:ext cx="27432" cy="27432"/>
            </a:xfrm>
            <a:prstGeom prst="ellipse">
              <a:avLst/>
            </a:prstGeom>
            <a:solidFill>
              <a:srgbClr val="146CA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9" name="Frozen U-Net to clean estimate"/>
          <p:cNvSpPr/>
          <p:nvPr/>
        </p:nvSpPr>
        <p:spPr>
          <a:xfrm>
            <a:off x="8513064" y="3995928"/>
            <a:ext cx="192024" cy="0"/>
          </a:xfrm>
          <a:custGeom>
            <a:avLst/>
            <a:gdLst/>
            <a:ahLst/>
            <a:cxnLst/>
            <a:rect l="l" t="t" r="r" b="b"/>
            <a:pathLst>
              <a:path w="21" h="0">
                <a:moveTo>
                  <a:pt x="0" y="0"/>
                </a:moveTo>
                <a:lnTo>
                  <a:pt x="21" y="0"/>
                </a:lnTo>
              </a:path>
            </a:pathLst>
          </a:custGeom>
          <a:noFill/>
          <a:ln w="12801">
            <a:solidFill>
              <a:srgbClr val="146CA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Clean estimate title"/>
          <p:cNvSpPr txBox="1"/>
          <p:nvPr/>
        </p:nvSpPr>
        <p:spPr>
          <a:xfrm>
            <a:off x="8677656" y="3154680"/>
            <a:ext cx="100584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071D43"/>
                </a:solidFill>
                <a:latin typeface="Arial"/>
              </a:rPr>
              <a:t>Clean estimate</a:t>
            </a:r>
          </a:p>
        </p:txBody>
      </p:sp>
      <p:sp>
        <p:nvSpPr>
          <p:cNvPr id="131" name="Clean estimate symbol"/>
          <p:cNvSpPr txBox="1"/>
          <p:nvPr/>
        </p:nvSpPr>
        <p:spPr>
          <a:xfrm>
            <a:off x="8961120" y="3337560"/>
            <a:ext cx="448056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84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584" i="1">
                <a:solidFill>
                  <a:srgbClr val="071D43"/>
                </a:solidFill>
                <a:latin typeface="Liberation Serif"/>
              </a:rPr>
              <a:t>x̂</a:t>
            </a:r>
            <a:r>
              <a:rPr sz="1108" i="1" baseline="-22000">
                <a:solidFill>
                  <a:srgbClr val="071D43"/>
                </a:solidFill>
                <a:latin typeface="Liberation Serif"/>
              </a:rPr>
              <a:t>0</a:t>
            </a:r>
          </a:p>
        </p:txBody>
      </p:sp>
      <p:pic>
        <p:nvPicPr>
          <p:cNvPr id="132" name="Representative clean estimate — checkpoint evaluation" descr="sampling_clean_estimat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50808" y="3566160"/>
            <a:ext cx="813816" cy="813816"/>
          </a:xfrm>
          <a:prstGeom prst="rect">
            <a:avLst/>
          </a:prstGeom>
        </p:spPr>
      </p:pic>
      <p:sp>
        <p:nvSpPr>
          <p:cNvPr id="133" name="Clean estimate to consistency"/>
          <p:cNvSpPr/>
          <p:nvPr/>
        </p:nvSpPr>
        <p:spPr>
          <a:xfrm>
            <a:off x="9592056" y="3995928"/>
            <a:ext cx="164592" cy="0"/>
          </a:xfrm>
          <a:custGeom>
            <a:avLst/>
            <a:gdLst/>
            <a:ahLst/>
            <a:cxnLst/>
            <a:rect l="l" t="t" r="r" b="b"/>
            <a:pathLst>
              <a:path w="18" h="0">
                <a:moveTo>
                  <a:pt x="0" y="0"/>
                </a:moveTo>
                <a:lnTo>
                  <a:pt x="18" y="0"/>
                </a:lnTo>
              </a:path>
            </a:pathLst>
          </a:custGeom>
          <a:noFill/>
          <a:ln w="12801">
            <a:solidFill>
              <a:srgbClr val="146CA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Data consistency frame"/>
          <p:cNvSpPr/>
          <p:nvPr/>
        </p:nvSpPr>
        <p:spPr>
          <a:xfrm>
            <a:off x="9774936" y="3712463"/>
            <a:ext cx="868680" cy="566928"/>
          </a:xfrm>
          <a:prstGeom prst="roundRect">
            <a:avLst>
              <a:gd name="adj" fmla="val 1500"/>
            </a:avLst>
          </a:prstGeom>
          <a:solidFill>
            <a:srgbClr val="FFF0D8"/>
          </a:solidFill>
          <a:ln w="14630">
            <a:solidFill>
              <a:srgbClr val="E7781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Data consistency label"/>
          <p:cNvSpPr txBox="1"/>
          <p:nvPr/>
        </p:nvSpPr>
        <p:spPr>
          <a:xfrm>
            <a:off x="9820656" y="3794760"/>
            <a:ext cx="786384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94309"/>
                </a:solidFill>
                <a:latin typeface="Arial"/>
              </a:rPr>
              <a:t>Data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94309"/>
                </a:solidFill>
                <a:latin typeface="Arial"/>
              </a:rPr>
              <a:t>consistency</a:t>
            </a:r>
          </a:p>
        </p:txBody>
      </p:sp>
      <p:sp>
        <p:nvSpPr>
          <p:cNvPr id="136" name="Consistency to update"/>
          <p:cNvSpPr/>
          <p:nvPr/>
        </p:nvSpPr>
        <p:spPr>
          <a:xfrm>
            <a:off x="10661904" y="3995928"/>
            <a:ext cx="173736" cy="0"/>
          </a:xfrm>
          <a:custGeom>
            <a:avLst/>
            <a:gdLst/>
            <a:ahLst/>
            <a:cxnLst/>
            <a:rect l="l" t="t" r="r" b="b"/>
            <a:pathLst>
              <a:path w="19" h="0">
                <a:moveTo>
                  <a:pt x="0" y="0"/>
                </a:moveTo>
                <a:lnTo>
                  <a:pt x="19" y="0"/>
                </a:lnTo>
              </a:path>
            </a:pathLst>
          </a:custGeom>
          <a:noFill/>
          <a:ln w="12801">
            <a:solidFill>
              <a:srgbClr val="146CA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Diffusion update frame"/>
          <p:cNvSpPr/>
          <p:nvPr/>
        </p:nvSpPr>
        <p:spPr>
          <a:xfrm>
            <a:off x="10853928" y="3712463"/>
            <a:ext cx="914400" cy="566928"/>
          </a:xfrm>
          <a:prstGeom prst="roundRect">
            <a:avLst>
              <a:gd name="adj" fmla="val 1500"/>
            </a:avLst>
          </a:prstGeom>
          <a:solidFill>
            <a:srgbClr val="E2F2FD"/>
          </a:solidFill>
          <a:ln w="13716">
            <a:solidFill>
              <a:srgbClr val="146C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Diffusion update label"/>
          <p:cNvSpPr txBox="1"/>
          <p:nvPr/>
        </p:nvSpPr>
        <p:spPr>
          <a:xfrm>
            <a:off x="10908792" y="3794760"/>
            <a:ext cx="804672" cy="4023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71D43"/>
                </a:solidFill>
                <a:latin typeface="Arial"/>
              </a:rPr>
              <a:t>Diffusion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71D43"/>
                </a:solidFill>
                <a:latin typeface="Arial"/>
              </a:rPr>
              <a:t>update</a:t>
            </a:r>
          </a:p>
        </p:txBody>
      </p:sp>
      <p:sp>
        <p:nvSpPr>
          <p:cNvPr id="139" name="Update to reconstruction"/>
          <p:cNvSpPr/>
          <p:nvPr/>
        </p:nvSpPr>
        <p:spPr>
          <a:xfrm>
            <a:off x="11795760" y="3995928"/>
            <a:ext cx="192024" cy="0"/>
          </a:xfrm>
          <a:custGeom>
            <a:avLst/>
            <a:gdLst/>
            <a:ahLst/>
            <a:cxnLst/>
            <a:rect l="l" t="t" r="r" b="b"/>
            <a:pathLst>
              <a:path w="21" h="0">
                <a:moveTo>
                  <a:pt x="0" y="0"/>
                </a:moveTo>
                <a:lnTo>
                  <a:pt x="21" y="0"/>
                </a:lnTo>
              </a:path>
            </a:pathLst>
          </a:custGeom>
          <a:noFill/>
          <a:ln w="12801">
            <a:solidFill>
              <a:srgbClr val="146CA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Reconstruction label"/>
          <p:cNvSpPr txBox="1"/>
          <p:nvPr/>
        </p:nvSpPr>
        <p:spPr>
          <a:xfrm>
            <a:off x="11951208" y="3163824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071D43"/>
                </a:solidFill>
                <a:latin typeface="Arial"/>
              </a:rPr>
              <a:t>Reconstruction</a:t>
            </a:r>
          </a:p>
        </p:txBody>
      </p:sp>
      <p:sp>
        <p:nvSpPr>
          <p:cNvPr id="141" name="Reconstruction symbol"/>
          <p:cNvSpPr txBox="1"/>
          <p:nvPr/>
        </p:nvSpPr>
        <p:spPr>
          <a:xfrm>
            <a:off x="12262104" y="3355848"/>
            <a:ext cx="420624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84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584" i="1">
                <a:solidFill>
                  <a:srgbClr val="071D43"/>
                </a:solidFill>
                <a:latin typeface="Liberation Serif"/>
              </a:rPr>
              <a:t>x̂</a:t>
            </a:r>
          </a:p>
        </p:txBody>
      </p:sp>
      <p:pic>
        <p:nvPicPr>
          <p:cNvPr id="142" name="Reconstruction — saved baseline result" descr="reconstruction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2060936" y="3566160"/>
            <a:ext cx="841248" cy="841248"/>
          </a:xfrm>
          <a:prstGeom prst="rect">
            <a:avLst/>
          </a:prstGeom>
        </p:spPr>
      </p:pic>
      <p:sp>
        <p:nvSpPr>
          <p:cNvPr id="143" name="Sampling iteration loop"/>
          <p:cNvSpPr/>
          <p:nvPr/>
        </p:nvSpPr>
        <p:spPr>
          <a:xfrm>
            <a:off x="8055864" y="4315968"/>
            <a:ext cx="3209544" cy="374904"/>
          </a:xfrm>
          <a:custGeom>
            <a:avLst/>
            <a:gdLst/>
            <a:ahLst/>
            <a:cxnLst/>
            <a:rect l="l" t="t" r="r" b="b"/>
            <a:pathLst>
              <a:path w="351" h="41">
                <a:moveTo>
                  <a:pt x="351" y="0"/>
                </a:moveTo>
                <a:cubicBezTo>
                  <a:pt x="351" y="33"/>
                  <a:pt x="343" y="41"/>
                  <a:pt x="317" y="41"/>
                </a:cubicBezTo>
                <a:cubicBezTo>
                  <a:pt x="247" y="41"/>
                  <a:pt x="109" y="41"/>
                  <a:pt x="31" y="41"/>
                </a:cubicBezTo>
                <a:cubicBezTo>
                  <a:pt x="10" y="41"/>
                  <a:pt x="0" y="25"/>
                  <a:pt x="0" y="8"/>
                </a:cubicBezTo>
              </a:path>
            </a:pathLst>
          </a:custGeom>
          <a:noFill/>
          <a:ln w="15544">
            <a:solidFill>
              <a:srgbClr val="146CA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Sampling iteration note"/>
          <p:cNvSpPr txBox="1"/>
          <p:nvPr/>
        </p:nvSpPr>
        <p:spPr>
          <a:xfrm>
            <a:off x="8869680" y="4718304"/>
            <a:ext cx="1965960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6" b="0" i="1">
                <a:solidFill>
                  <a:srgbClr val="175989"/>
                </a:solidFill>
                <a:latin typeface="Arial"/>
              </a:rPr>
              <a:t>Repeat as σ decreases</a:t>
            </a:r>
          </a:p>
        </p:txBody>
      </p:sp>
      <p:sp>
        <p:nvSpPr>
          <p:cNvPr id="145" name="Physics into data consistency"/>
          <p:cNvSpPr/>
          <p:nvPr/>
        </p:nvSpPr>
        <p:spPr>
          <a:xfrm>
            <a:off x="8842248" y="4306824"/>
            <a:ext cx="1371600" cy="932688"/>
          </a:xfrm>
          <a:custGeom>
            <a:avLst/>
            <a:gdLst/>
            <a:ahLst/>
            <a:cxnLst/>
            <a:rect l="l" t="t" r="r" b="b"/>
            <a:pathLst>
              <a:path w="150" h="102">
                <a:moveTo>
                  <a:pt x="0" y="102"/>
                </a:moveTo>
                <a:lnTo>
                  <a:pt x="150" y="102"/>
                </a:lnTo>
                <a:lnTo>
                  <a:pt x="150" y="0"/>
                </a:lnTo>
              </a:path>
            </a:pathLst>
          </a:custGeom>
          <a:noFill/>
          <a:ln w="16459">
            <a:solidFill>
              <a:srgbClr val="E7781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Physics inset frame"/>
          <p:cNvSpPr/>
          <p:nvPr/>
        </p:nvSpPr>
        <p:spPr>
          <a:xfrm>
            <a:off x="192024" y="5193792"/>
            <a:ext cx="8641080" cy="2514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22859">
            <a:solidFill>
              <a:srgbClr val="009C9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Physics inset title"/>
          <p:cNvSpPr txBox="1"/>
          <p:nvPr/>
        </p:nvSpPr>
        <p:spPr>
          <a:xfrm>
            <a:off x="338328" y="5257800"/>
            <a:ext cx="7461504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84" b="1" i="0">
                <a:solidFill>
                  <a:srgbClr val="0B7279"/>
                </a:solidFill>
                <a:latin typeface="Arial"/>
              </a:rPr>
              <a:t>What the SPEN degradation operator does</a:t>
            </a:r>
          </a:p>
        </p:txBody>
      </p:sp>
      <p:sp>
        <p:nvSpPr>
          <p:cNvPr id="148" name="Magnitude scaling frame"/>
          <p:cNvSpPr/>
          <p:nvPr/>
        </p:nvSpPr>
        <p:spPr>
          <a:xfrm>
            <a:off x="329184" y="5623560"/>
            <a:ext cx="1060704" cy="512064"/>
          </a:xfrm>
          <a:prstGeom prst="roundRect">
            <a:avLst>
              <a:gd name="adj" fmla="val 1500"/>
            </a:avLst>
          </a:prstGeom>
          <a:solidFill>
            <a:srgbClr val="F7FDFD"/>
          </a:solidFill>
          <a:ln w="13716">
            <a:solidFill>
              <a:srgbClr val="009C9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Magnitude scaling left"/>
          <p:cNvSpPr txBox="1"/>
          <p:nvPr/>
        </p:nvSpPr>
        <p:spPr>
          <a:xfrm>
            <a:off x="420624" y="5769864"/>
            <a:ext cx="320040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439" i="1">
                <a:solidFill>
                  <a:srgbClr val="071D43"/>
                </a:solidFill>
                <a:latin typeface="Liberation Serif"/>
              </a:rPr>
              <a:t>m =</a:t>
            </a:r>
          </a:p>
        </p:txBody>
      </p:sp>
      <p:sp>
        <p:nvSpPr>
          <p:cNvPr id="150" name="Magnitude scaling fraction numerator"/>
          <p:cNvSpPr txBox="1"/>
          <p:nvPr/>
        </p:nvSpPr>
        <p:spPr>
          <a:xfrm>
            <a:off x="786384" y="5733288"/>
            <a:ext cx="448056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080" i="1">
                <a:solidFill>
                  <a:srgbClr val="071D43"/>
                </a:solidFill>
                <a:latin typeface="Liberation Serif"/>
              </a:rPr>
              <a:t>(x + 1)</a:t>
            </a:r>
          </a:p>
        </p:txBody>
      </p:sp>
      <p:sp>
        <p:nvSpPr>
          <p:cNvPr id="151" name="Magnitude scaling fraction fraction bar"/>
          <p:cNvSpPr/>
          <p:nvPr/>
        </p:nvSpPr>
        <p:spPr>
          <a:xfrm>
            <a:off x="804672" y="5897880"/>
            <a:ext cx="411480" cy="0"/>
          </a:xfrm>
          <a:custGeom>
            <a:avLst/>
            <a:gdLst/>
            <a:ahLst/>
            <a:cxnLst/>
            <a:rect l="l" t="t" r="r" b="b"/>
            <a:pathLst>
              <a:path w="45" h="0">
                <a:moveTo>
                  <a:pt x="0" y="0"/>
                </a:moveTo>
                <a:lnTo>
                  <a:pt x="45" y="0"/>
                </a:lnTo>
              </a:path>
            </a:pathLst>
          </a:custGeom>
          <a:noFill/>
          <a:ln w="7315">
            <a:solidFill>
              <a:srgbClr val="071D4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Magnitude scaling fraction denominator"/>
          <p:cNvSpPr txBox="1"/>
          <p:nvPr/>
        </p:nvSpPr>
        <p:spPr>
          <a:xfrm>
            <a:off x="786384" y="5907024"/>
            <a:ext cx="448056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080" i="1">
                <a:solidFill>
                  <a:srgbClr val="071D43"/>
                </a:solidFill>
                <a:latin typeface="Liberation Serif"/>
              </a:rPr>
              <a:t>2</a:t>
            </a:r>
          </a:p>
        </p:txBody>
      </p:sp>
      <p:sp>
        <p:nvSpPr>
          <p:cNvPr id="153" name="Magnitude scaling note"/>
          <p:cNvSpPr txBox="1"/>
          <p:nvPr/>
        </p:nvSpPr>
        <p:spPr>
          <a:xfrm>
            <a:off x="365760" y="6227064"/>
            <a:ext cx="1289304" cy="6949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071D43"/>
                </a:solidFill>
                <a:latin typeface="Arial"/>
              </a:rPr>
              <a:t>Denoiser predicts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071D43"/>
                </a:solidFill>
                <a:latin typeface="Arial"/>
              </a:rPr>
              <a:t>normalized real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071D43"/>
                </a:solidFill>
                <a:latin typeface="Arial"/>
              </a:rPr>
              <a:t>magnitude x.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071D43"/>
                </a:solidFill>
                <a:latin typeface="Arial"/>
              </a:rPr>
              <a:t>Nonnegative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071D43"/>
                </a:solidFill>
                <a:latin typeface="Arial"/>
              </a:rPr>
              <a:t>magnitude m = (x + 1)/2.</a:t>
            </a:r>
          </a:p>
        </p:txBody>
      </p:sp>
      <p:sp>
        <p:nvSpPr>
          <p:cNvPr id="154" name="Magnitude to coil fractions"/>
          <p:cNvSpPr/>
          <p:nvPr/>
        </p:nvSpPr>
        <p:spPr>
          <a:xfrm>
            <a:off x="1399032" y="5907024"/>
            <a:ext cx="219456" cy="0"/>
          </a:xfrm>
          <a:custGeom>
            <a:avLst/>
            <a:gdLst/>
            <a:ahLst/>
            <a:cxnLst/>
            <a:rect l="l" t="t" r="r" b="b"/>
            <a:pathLst>
              <a:path w="24" h="0">
                <a:moveTo>
                  <a:pt x="0" y="0"/>
                </a:moveTo>
                <a:lnTo>
                  <a:pt x="24" y="0"/>
                </a:lnTo>
              </a:path>
            </a:pathLst>
          </a:custGeom>
          <a:noFill/>
          <a:ln w="15544">
            <a:solidFill>
              <a:srgbClr val="009C9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Coil multiplication frame"/>
          <p:cNvSpPr/>
          <p:nvPr/>
        </p:nvSpPr>
        <p:spPr>
          <a:xfrm>
            <a:off x="1636776" y="5614416"/>
            <a:ext cx="969264" cy="521207"/>
          </a:xfrm>
          <a:prstGeom prst="roundRect">
            <a:avLst>
              <a:gd name="adj" fmla="val 1500"/>
            </a:avLst>
          </a:prstGeom>
          <a:solidFill>
            <a:srgbClr val="F3E8F8"/>
          </a:solidFill>
          <a:ln w="13716">
            <a:solidFill>
              <a:srgbClr val="912C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Coil multiplication formula"/>
          <p:cNvSpPr txBox="1"/>
          <p:nvPr/>
        </p:nvSpPr>
        <p:spPr>
          <a:xfrm>
            <a:off x="1837943" y="5742432"/>
            <a:ext cx="557784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5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655" i="1">
                <a:solidFill>
                  <a:srgbClr val="071D43"/>
                </a:solidFill>
                <a:latin typeface="Liberation Serif"/>
              </a:rPr>
              <a:t>× Ŝ</a:t>
            </a:r>
            <a:r>
              <a:rPr sz="1159" i="1" baseline="-22000">
                <a:solidFill>
                  <a:srgbClr val="071D43"/>
                </a:solidFill>
                <a:latin typeface="Liberation Serif"/>
              </a:rPr>
              <a:t>c</a:t>
            </a:r>
          </a:p>
        </p:txBody>
      </p:sp>
      <p:sp>
        <p:nvSpPr>
          <p:cNvPr id="157" name="Coil multiplication note"/>
          <p:cNvSpPr txBox="1"/>
          <p:nvPr/>
        </p:nvSpPr>
        <p:spPr>
          <a:xfrm>
            <a:off x="1700784" y="6227064"/>
            <a:ext cx="1115568" cy="5760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071D43"/>
                </a:solidFill>
                <a:latin typeface="Arial"/>
              </a:rPr>
              <a:t>Apply fixed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071D43"/>
                </a:solidFill>
                <a:latin typeface="Arial"/>
              </a:rPr>
              <a:t>complex coil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071D43"/>
                </a:solidFill>
                <a:latin typeface="Arial"/>
              </a:rPr>
              <a:t>fractions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071D43"/>
                </a:solidFill>
                <a:latin typeface="Arial"/>
              </a:rPr>
              <a:t>(from measurements)</a:t>
            </a:r>
          </a:p>
        </p:txBody>
      </p:sp>
      <p:sp>
        <p:nvSpPr>
          <p:cNvPr id="158" name="Coil fractions to SPEN"/>
          <p:cNvSpPr/>
          <p:nvPr/>
        </p:nvSpPr>
        <p:spPr>
          <a:xfrm>
            <a:off x="2624328" y="5897880"/>
            <a:ext cx="237744" cy="0"/>
          </a:xfrm>
          <a:custGeom>
            <a:avLst/>
            <a:gdLst/>
            <a:ahLst/>
            <a:cxnLst/>
            <a:rect l="l" t="t" r="r" b="b"/>
            <a:pathLst>
              <a:path w="26" h="0">
                <a:moveTo>
                  <a:pt x="0" y="0"/>
                </a:moveTo>
                <a:lnTo>
                  <a:pt x="26" y="0"/>
                </a:lnTo>
              </a:path>
            </a:pathLst>
          </a:custGeom>
          <a:noFill/>
          <a:ln w="15544">
            <a:solidFill>
              <a:srgbClr val="009C9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SPEN encoding frame"/>
          <p:cNvSpPr/>
          <p:nvPr/>
        </p:nvSpPr>
        <p:spPr>
          <a:xfrm>
            <a:off x="2871216" y="5614416"/>
            <a:ext cx="1197864" cy="466344"/>
          </a:xfrm>
          <a:prstGeom prst="roundRect">
            <a:avLst>
              <a:gd name="adj" fmla="val 1500"/>
            </a:avLst>
          </a:prstGeom>
          <a:solidFill>
            <a:srgbClr val="E4F6F6"/>
          </a:solidFill>
          <a:ln w="14630">
            <a:solidFill>
              <a:srgbClr val="009C9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SPEN operator symbol"/>
          <p:cNvSpPr txBox="1"/>
          <p:nvPr/>
        </p:nvSpPr>
        <p:spPr>
          <a:xfrm>
            <a:off x="3182112" y="5660136"/>
            <a:ext cx="539496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439" i="1">
                <a:solidFill>
                  <a:srgbClr val="071D43"/>
                </a:solidFill>
                <a:latin typeface="Liberation Serif"/>
              </a:rPr>
              <a:t>A</a:t>
            </a:r>
            <a:r>
              <a:rPr sz="1007" i="1" baseline="-22000">
                <a:solidFill>
                  <a:srgbClr val="071D43"/>
                </a:solidFill>
                <a:latin typeface="Liberation Serif"/>
              </a:rPr>
              <a:t>PE</a:t>
            </a:r>
            <a:r>
              <a:rPr sz="1439" i="1">
                <a:solidFill>
                  <a:srgbClr val="071D43"/>
                </a:solidFill>
                <a:latin typeface="Liberation Serif"/>
              </a:rPr>
              <a:t>:</a:t>
            </a:r>
          </a:p>
        </p:txBody>
      </p:sp>
      <p:sp>
        <p:nvSpPr>
          <p:cNvPr id="161" name="SPEN operator label"/>
          <p:cNvSpPr txBox="1"/>
          <p:nvPr/>
        </p:nvSpPr>
        <p:spPr>
          <a:xfrm>
            <a:off x="2971800" y="5852160"/>
            <a:ext cx="100584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071D43"/>
                </a:solidFill>
                <a:latin typeface="Arial"/>
              </a:rPr>
              <a:t>SPEN encoding</a:t>
            </a:r>
          </a:p>
        </p:txBody>
      </p:sp>
      <p:pic>
        <p:nvPicPr>
          <p:cNvPr id="162" name="Actual encoding matrix magnitude" descr="encoding_magnitud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118104" y="6263640"/>
            <a:ext cx="713232" cy="356616"/>
          </a:xfrm>
          <a:prstGeom prst="rect">
            <a:avLst/>
          </a:prstGeom>
        </p:spPr>
      </p:pic>
      <p:sp>
        <p:nvSpPr>
          <p:cNvPr id="163" name="Encoding thumbnail symbol"/>
          <p:cNvSpPr txBox="1"/>
          <p:nvPr/>
        </p:nvSpPr>
        <p:spPr>
          <a:xfrm>
            <a:off x="3163824" y="6629400"/>
            <a:ext cx="630936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4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864" i="1">
                <a:solidFill>
                  <a:srgbClr val="071D43"/>
                </a:solidFill>
                <a:latin typeface="Liberation Serif"/>
              </a:rPr>
              <a:t>|A</a:t>
            </a:r>
            <a:r>
              <a:rPr sz="604" i="1" baseline="-22000">
                <a:solidFill>
                  <a:srgbClr val="071D43"/>
                </a:solidFill>
                <a:latin typeface="Liberation Serif"/>
              </a:rPr>
              <a:t>PE</a:t>
            </a:r>
            <a:r>
              <a:rPr sz="864" i="1">
                <a:solidFill>
                  <a:srgbClr val="071D43"/>
                </a:solidFill>
                <a:latin typeface="Liberation Serif"/>
              </a:rPr>
              <a:t>|</a:t>
            </a:r>
          </a:p>
        </p:txBody>
      </p:sp>
      <p:sp>
        <p:nvSpPr>
          <p:cNvPr id="164" name="Scanner trajectory note"/>
          <p:cNvSpPr txBox="1"/>
          <p:nvPr/>
        </p:nvSpPr>
        <p:spPr>
          <a:xfrm>
            <a:off x="3017520" y="6784848"/>
            <a:ext cx="91440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071D43"/>
                </a:solidFill>
                <a:latin typeface="Arial"/>
              </a:rPr>
              <a:t>Same scanner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071D43"/>
                </a:solidFill>
                <a:latin typeface="Arial"/>
              </a:rPr>
              <a:t>trajectory</a:t>
            </a:r>
          </a:p>
        </p:txBody>
      </p:sp>
      <p:sp>
        <p:nvSpPr>
          <p:cNvPr id="165" name="SPEN to RO"/>
          <p:cNvSpPr/>
          <p:nvPr/>
        </p:nvSpPr>
        <p:spPr>
          <a:xfrm>
            <a:off x="4087368" y="5897880"/>
            <a:ext cx="201168" cy="0"/>
          </a:xfrm>
          <a:custGeom>
            <a:avLst/>
            <a:gdLst/>
            <a:ahLst/>
            <a:cxnLst/>
            <a:rect l="l" t="t" r="r" b="b"/>
            <a:pathLst>
              <a:path w="22" h="0">
                <a:moveTo>
                  <a:pt x="0" y="0"/>
                </a:moveTo>
                <a:lnTo>
                  <a:pt x="22" y="0"/>
                </a:lnTo>
              </a:path>
            </a:pathLst>
          </a:custGeom>
          <a:noFill/>
          <a:ln w="15544">
            <a:solidFill>
              <a:srgbClr val="009C9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RO bandlimit frame"/>
          <p:cNvSpPr/>
          <p:nvPr/>
        </p:nvSpPr>
        <p:spPr>
          <a:xfrm>
            <a:off x="4297680" y="5614416"/>
            <a:ext cx="1380744" cy="466344"/>
          </a:xfrm>
          <a:prstGeom prst="roundRect">
            <a:avLst>
              <a:gd name="adj" fmla="val 1500"/>
            </a:avLst>
          </a:prstGeom>
          <a:solidFill>
            <a:srgbClr val="E4F6F6"/>
          </a:solidFill>
          <a:ln w="14630">
            <a:solidFill>
              <a:srgbClr val="009C9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RO operator symbol"/>
          <p:cNvSpPr txBox="1"/>
          <p:nvPr/>
        </p:nvSpPr>
        <p:spPr>
          <a:xfrm>
            <a:off x="4709160" y="5660136"/>
            <a:ext cx="539496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439" i="1">
                <a:solidFill>
                  <a:srgbClr val="071D43"/>
                </a:solidFill>
                <a:latin typeface="Liberation Serif"/>
              </a:rPr>
              <a:t>D</a:t>
            </a:r>
            <a:r>
              <a:rPr sz="1007" i="1" baseline="-22000">
                <a:solidFill>
                  <a:srgbClr val="071D43"/>
                </a:solidFill>
                <a:latin typeface="Liberation Serif"/>
              </a:rPr>
              <a:t>RO</a:t>
            </a:r>
            <a:r>
              <a:rPr sz="1439" i="1">
                <a:solidFill>
                  <a:srgbClr val="071D43"/>
                </a:solidFill>
                <a:latin typeface="Liberation Serif"/>
              </a:rPr>
              <a:t>:</a:t>
            </a:r>
          </a:p>
        </p:txBody>
      </p:sp>
      <p:sp>
        <p:nvSpPr>
          <p:cNvPr id="168" name="RO operator label"/>
          <p:cNvSpPr txBox="1"/>
          <p:nvPr/>
        </p:nvSpPr>
        <p:spPr>
          <a:xfrm>
            <a:off x="4361688" y="5852160"/>
            <a:ext cx="1271016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071D43"/>
                </a:solidFill>
                <a:latin typeface="Arial"/>
              </a:rPr>
              <a:t>RO band limitation</a:t>
            </a:r>
          </a:p>
        </p:txBody>
      </p:sp>
      <p:sp>
        <p:nvSpPr>
          <p:cNvPr id="169" name="Retained RO frequency band"/>
          <p:cNvSpPr/>
          <p:nvPr/>
        </p:nvSpPr>
        <p:spPr>
          <a:xfrm>
            <a:off x="4846320" y="6190488"/>
            <a:ext cx="310896" cy="384048"/>
          </a:xfrm>
          <a:prstGeom prst="rect">
            <a:avLst/>
          </a:prstGeom>
          <a:solidFill>
            <a:srgbClr val="B1CD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RO frequency vertical axis"/>
          <p:cNvSpPr/>
          <p:nvPr/>
        </p:nvSpPr>
        <p:spPr>
          <a:xfrm>
            <a:off x="4562856" y="6172200"/>
            <a:ext cx="0" cy="429768"/>
          </a:xfrm>
          <a:custGeom>
            <a:avLst/>
            <a:gdLst/>
            <a:ahLst/>
            <a:cxnLst/>
            <a:rect l="l" t="t" r="r" b="b"/>
            <a:pathLst>
              <a:path w="0" h="47">
                <a:moveTo>
                  <a:pt x="0" y="0"/>
                </a:moveTo>
                <a:lnTo>
                  <a:pt x="0" y="47"/>
                </a:lnTo>
              </a:path>
            </a:pathLst>
          </a:custGeom>
          <a:noFill/>
          <a:ln w="7315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RO frequency axis"/>
          <p:cNvSpPr/>
          <p:nvPr/>
        </p:nvSpPr>
        <p:spPr>
          <a:xfrm>
            <a:off x="4562856" y="6601968"/>
            <a:ext cx="914400" cy="0"/>
          </a:xfrm>
          <a:custGeom>
            <a:avLst/>
            <a:gdLst/>
            <a:ahLst/>
            <a:cxnLst/>
            <a:rect l="l" t="t" r="r" b="b"/>
            <a:pathLst>
              <a:path w="100" h="0">
                <a:moveTo>
                  <a:pt x="0" y="0"/>
                </a:moveTo>
                <a:lnTo>
                  <a:pt x="100" y="0"/>
                </a:lnTo>
              </a:path>
            </a:pathLst>
          </a:custGeom>
          <a:noFill/>
          <a:ln w="7315">
            <a:solidFill>
              <a:srgbClr val="55555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RO spectrum visual approximation"/>
          <p:cNvSpPr/>
          <p:nvPr/>
        </p:nvSpPr>
        <p:spPr>
          <a:xfrm>
            <a:off x="4572000" y="6199632"/>
            <a:ext cx="877824" cy="356616"/>
          </a:xfrm>
          <a:custGeom>
            <a:avLst/>
            <a:gdLst/>
            <a:ahLst/>
            <a:cxnLst/>
            <a:rect l="l" t="t" r="r" b="b"/>
            <a:pathLst>
              <a:path w="96" h="39">
                <a:moveTo>
                  <a:pt x="0" y="38"/>
                </a:moveTo>
                <a:lnTo>
                  <a:pt x="3" y="39"/>
                </a:lnTo>
                <a:lnTo>
                  <a:pt x="6" y="37"/>
                </a:lnTo>
                <a:lnTo>
                  <a:pt x="9" y="38"/>
                </a:lnTo>
                <a:lnTo>
                  <a:pt x="12" y="39"/>
                </a:lnTo>
                <a:lnTo>
                  <a:pt x="15" y="36"/>
                </a:lnTo>
                <a:lnTo>
                  <a:pt x="18" y="38"/>
                </a:lnTo>
                <a:lnTo>
                  <a:pt x="21" y="34"/>
                </a:lnTo>
                <a:lnTo>
                  <a:pt x="24" y="35"/>
                </a:lnTo>
                <a:lnTo>
                  <a:pt x="27" y="29"/>
                </a:lnTo>
                <a:lnTo>
                  <a:pt x="30" y="21"/>
                </a:lnTo>
                <a:lnTo>
                  <a:pt x="33" y="16"/>
                </a:lnTo>
                <a:lnTo>
                  <a:pt x="36" y="10"/>
                </a:lnTo>
                <a:lnTo>
                  <a:pt x="39" y="5"/>
                </a:lnTo>
                <a:lnTo>
                  <a:pt x="42" y="0"/>
                </a:lnTo>
                <a:lnTo>
                  <a:pt x="45" y="2"/>
                </a:lnTo>
                <a:lnTo>
                  <a:pt x="48" y="5"/>
                </a:lnTo>
                <a:lnTo>
                  <a:pt x="51" y="10"/>
                </a:lnTo>
                <a:lnTo>
                  <a:pt x="54" y="16"/>
                </a:lnTo>
                <a:lnTo>
                  <a:pt x="57" y="25"/>
                </a:lnTo>
                <a:lnTo>
                  <a:pt x="60" y="34"/>
                </a:lnTo>
                <a:lnTo>
                  <a:pt x="63" y="36"/>
                </a:lnTo>
                <a:lnTo>
                  <a:pt x="66" y="34"/>
                </a:lnTo>
                <a:lnTo>
                  <a:pt x="69" y="37"/>
                </a:lnTo>
                <a:lnTo>
                  <a:pt x="72" y="35"/>
                </a:lnTo>
                <a:lnTo>
                  <a:pt x="75" y="38"/>
                </a:lnTo>
                <a:lnTo>
                  <a:pt x="78" y="36"/>
                </a:lnTo>
                <a:lnTo>
                  <a:pt x="81" y="37"/>
                </a:lnTo>
                <a:lnTo>
                  <a:pt x="84" y="38"/>
                </a:lnTo>
                <a:lnTo>
                  <a:pt x="87" y="38"/>
                </a:lnTo>
                <a:lnTo>
                  <a:pt x="90" y="37"/>
                </a:lnTo>
                <a:lnTo>
                  <a:pt x="93" y="38"/>
                </a:lnTo>
                <a:lnTo>
                  <a:pt x="96" y="39"/>
                </a:lnTo>
              </a:path>
            </a:pathLst>
          </a:custGeom>
          <a:noFill/>
          <a:ln w="9144">
            <a:solidFill>
              <a:srgbClr val="2057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RO frequency axis label"/>
          <p:cNvSpPr txBox="1"/>
          <p:nvPr/>
        </p:nvSpPr>
        <p:spPr>
          <a:xfrm>
            <a:off x="4626864" y="6592824"/>
            <a:ext cx="832104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9" b="0" i="0">
                <a:solidFill>
                  <a:srgbClr val="071D43"/>
                </a:solidFill>
                <a:latin typeface="Arial"/>
              </a:rPr>
              <a:t>RO frequency</a:t>
            </a:r>
          </a:p>
        </p:txBody>
      </p:sp>
      <p:sp>
        <p:nvSpPr>
          <p:cNvPr id="174" name="Acquired bandwidth note"/>
          <p:cNvSpPr txBox="1"/>
          <p:nvPr/>
        </p:nvSpPr>
        <p:spPr>
          <a:xfrm>
            <a:off x="4489704" y="6775704"/>
            <a:ext cx="1014984" cy="3017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071D43"/>
                </a:solidFill>
                <a:latin typeface="Arial"/>
              </a:rPr>
              <a:t>Retain acquired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071D43"/>
                </a:solidFill>
                <a:latin typeface="Arial"/>
              </a:rPr>
              <a:t>bandwidth</a:t>
            </a:r>
          </a:p>
        </p:txBody>
      </p:sp>
      <p:sp>
        <p:nvSpPr>
          <p:cNvPr id="175" name="RO to acquired rows"/>
          <p:cNvSpPr/>
          <p:nvPr/>
        </p:nvSpPr>
        <p:spPr>
          <a:xfrm>
            <a:off x="5696712" y="5897880"/>
            <a:ext cx="210312" cy="0"/>
          </a:xfrm>
          <a:custGeom>
            <a:avLst/>
            <a:gdLst/>
            <a:ahLst/>
            <a:cxnLst/>
            <a:rect l="l" t="t" r="r" b="b"/>
            <a:pathLst>
              <a:path w="23" h="0">
                <a:moveTo>
                  <a:pt x="0" y="0"/>
                </a:moveTo>
                <a:lnTo>
                  <a:pt x="23" y="0"/>
                </a:lnTo>
              </a:path>
            </a:pathLst>
          </a:custGeom>
          <a:noFill/>
          <a:ln w="15544">
            <a:solidFill>
              <a:srgbClr val="009C9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PE masking frame"/>
          <p:cNvSpPr/>
          <p:nvPr/>
        </p:nvSpPr>
        <p:spPr>
          <a:xfrm>
            <a:off x="5925312" y="5614416"/>
            <a:ext cx="1271016" cy="475488"/>
          </a:xfrm>
          <a:prstGeom prst="roundRect">
            <a:avLst>
              <a:gd name="adj" fmla="val 1500"/>
            </a:avLst>
          </a:prstGeom>
          <a:solidFill>
            <a:srgbClr val="E4F6F6"/>
          </a:solidFill>
          <a:ln w="14630">
            <a:solidFill>
              <a:srgbClr val="009C9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PE masking symbol"/>
          <p:cNvSpPr txBox="1"/>
          <p:nvPr/>
        </p:nvSpPr>
        <p:spPr>
          <a:xfrm>
            <a:off x="6309360" y="5660136"/>
            <a:ext cx="475488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12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512" i="1">
                <a:solidFill>
                  <a:srgbClr val="071D43"/>
                </a:solidFill>
                <a:latin typeface="Liberation Serif"/>
              </a:rPr>
              <a:t>M:</a:t>
            </a:r>
          </a:p>
        </p:txBody>
      </p:sp>
      <p:sp>
        <p:nvSpPr>
          <p:cNvPr id="178" name="PE masking label"/>
          <p:cNvSpPr txBox="1"/>
          <p:nvPr/>
        </p:nvSpPr>
        <p:spPr>
          <a:xfrm>
            <a:off x="6016752" y="5852160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071D43"/>
                </a:solidFill>
                <a:latin typeface="Arial"/>
              </a:rPr>
              <a:t>acquired PE rows</a:t>
            </a:r>
          </a:p>
        </p:txBody>
      </p:sp>
      <p:sp>
        <p:nvSpPr>
          <p:cNvPr id="179" name="PE row illustration background"/>
          <p:cNvSpPr/>
          <p:nvPr/>
        </p:nvSpPr>
        <p:spPr>
          <a:xfrm>
            <a:off x="5980176" y="6181344"/>
            <a:ext cx="539496" cy="512064"/>
          </a:xfrm>
          <a:prstGeom prst="rect">
            <a:avLst/>
          </a:prstGeom>
          <a:solidFill>
            <a:srgbClr val="161A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PE acquired or missing row 0"/>
          <p:cNvSpPr/>
          <p:nvPr/>
        </p:nvSpPr>
        <p:spPr>
          <a:xfrm>
            <a:off x="5989320" y="6208776"/>
            <a:ext cx="512064" cy="0"/>
          </a:xfrm>
          <a:custGeom>
            <a:avLst/>
            <a:gdLst/>
            <a:ahLst/>
            <a:cxnLst/>
            <a:rect l="l" t="t" r="r" b="b"/>
            <a:pathLst>
              <a:path w="56" h="0">
                <a:moveTo>
                  <a:pt x="0" y="0"/>
                </a:moveTo>
                <a:lnTo>
                  <a:pt x="56" y="0"/>
                </a:lnTo>
              </a:path>
            </a:pathLst>
          </a:custGeom>
          <a:noFill/>
          <a:ln w="10972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PE acquired or missing row 1"/>
          <p:cNvSpPr/>
          <p:nvPr/>
        </p:nvSpPr>
        <p:spPr>
          <a:xfrm>
            <a:off x="5989320" y="6245352"/>
            <a:ext cx="512064" cy="0"/>
          </a:xfrm>
          <a:custGeom>
            <a:avLst/>
            <a:gdLst/>
            <a:ahLst/>
            <a:cxnLst/>
            <a:rect l="l" t="t" r="r" b="b"/>
            <a:pathLst>
              <a:path w="56" h="0">
                <a:moveTo>
                  <a:pt x="0" y="0"/>
                </a:moveTo>
                <a:lnTo>
                  <a:pt x="56" y="0"/>
                </a:lnTo>
              </a:path>
            </a:pathLst>
          </a:custGeom>
          <a:noFill/>
          <a:ln w="10972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PE acquired or missing row 2"/>
          <p:cNvSpPr/>
          <p:nvPr/>
        </p:nvSpPr>
        <p:spPr>
          <a:xfrm>
            <a:off x="5989320" y="6281928"/>
            <a:ext cx="512064" cy="0"/>
          </a:xfrm>
          <a:custGeom>
            <a:avLst/>
            <a:gdLst/>
            <a:ahLst/>
            <a:cxnLst/>
            <a:rect l="l" t="t" r="r" b="b"/>
            <a:pathLst>
              <a:path w="56" h="0">
                <a:moveTo>
                  <a:pt x="0" y="0"/>
                </a:moveTo>
                <a:lnTo>
                  <a:pt x="56" y="0"/>
                </a:lnTo>
              </a:path>
            </a:pathLst>
          </a:custGeom>
          <a:noFill/>
          <a:ln w="10972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PE acquired or missing row 3"/>
          <p:cNvSpPr/>
          <p:nvPr/>
        </p:nvSpPr>
        <p:spPr>
          <a:xfrm>
            <a:off x="5989320" y="6309360"/>
            <a:ext cx="512064" cy="0"/>
          </a:xfrm>
          <a:custGeom>
            <a:avLst/>
            <a:gdLst/>
            <a:ahLst/>
            <a:cxnLst/>
            <a:rect l="l" t="t" r="r" b="b"/>
            <a:pathLst>
              <a:path w="56" h="0">
                <a:moveTo>
                  <a:pt x="0" y="0"/>
                </a:moveTo>
                <a:lnTo>
                  <a:pt x="56" y="0"/>
                </a:lnTo>
              </a:path>
            </a:pathLst>
          </a:custGeom>
          <a:noFill/>
          <a:ln w="10972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PE acquired or missing row 4"/>
          <p:cNvSpPr/>
          <p:nvPr/>
        </p:nvSpPr>
        <p:spPr>
          <a:xfrm>
            <a:off x="5989320" y="6345936"/>
            <a:ext cx="512064" cy="0"/>
          </a:xfrm>
          <a:custGeom>
            <a:avLst/>
            <a:gdLst/>
            <a:ahLst/>
            <a:cxnLst/>
            <a:rect l="l" t="t" r="r" b="b"/>
            <a:pathLst>
              <a:path w="56" h="0">
                <a:moveTo>
                  <a:pt x="0" y="0"/>
                </a:moveTo>
                <a:lnTo>
                  <a:pt x="56" y="0"/>
                </a:lnTo>
              </a:path>
            </a:pathLst>
          </a:custGeom>
          <a:noFill/>
          <a:ln w="10972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PE acquired or missing row 5"/>
          <p:cNvSpPr/>
          <p:nvPr/>
        </p:nvSpPr>
        <p:spPr>
          <a:xfrm>
            <a:off x="5989320" y="6382512"/>
            <a:ext cx="512064" cy="0"/>
          </a:xfrm>
          <a:custGeom>
            <a:avLst/>
            <a:gdLst/>
            <a:ahLst/>
            <a:cxnLst/>
            <a:rect l="l" t="t" r="r" b="b"/>
            <a:pathLst>
              <a:path w="56" h="0">
                <a:moveTo>
                  <a:pt x="0" y="0"/>
                </a:moveTo>
                <a:lnTo>
                  <a:pt x="56" y="0"/>
                </a:lnTo>
              </a:path>
            </a:pathLst>
          </a:custGeom>
          <a:noFill/>
          <a:ln w="10972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PE acquired or missing row 6"/>
          <p:cNvSpPr/>
          <p:nvPr/>
        </p:nvSpPr>
        <p:spPr>
          <a:xfrm>
            <a:off x="5989320" y="6419088"/>
            <a:ext cx="512064" cy="0"/>
          </a:xfrm>
          <a:custGeom>
            <a:avLst/>
            <a:gdLst/>
            <a:ahLst/>
            <a:cxnLst/>
            <a:rect l="l" t="t" r="r" b="b"/>
            <a:pathLst>
              <a:path w="56" h="0">
                <a:moveTo>
                  <a:pt x="0" y="0"/>
                </a:moveTo>
                <a:lnTo>
                  <a:pt x="56" y="0"/>
                </a:lnTo>
              </a:path>
            </a:pathLst>
          </a:custGeom>
          <a:noFill/>
          <a:ln w="10972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PE acquired or missing row 7"/>
          <p:cNvSpPr/>
          <p:nvPr/>
        </p:nvSpPr>
        <p:spPr>
          <a:xfrm>
            <a:off x="5989320" y="6455664"/>
            <a:ext cx="512064" cy="0"/>
          </a:xfrm>
          <a:custGeom>
            <a:avLst/>
            <a:gdLst/>
            <a:ahLst/>
            <a:cxnLst/>
            <a:rect l="l" t="t" r="r" b="b"/>
            <a:pathLst>
              <a:path w="56" h="0">
                <a:moveTo>
                  <a:pt x="0" y="0"/>
                </a:moveTo>
                <a:lnTo>
                  <a:pt x="56" y="0"/>
                </a:lnTo>
              </a:path>
            </a:pathLst>
          </a:custGeom>
          <a:noFill/>
          <a:ln w="10972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PE acquired or missing row 8"/>
          <p:cNvSpPr/>
          <p:nvPr/>
        </p:nvSpPr>
        <p:spPr>
          <a:xfrm>
            <a:off x="5989320" y="6483096"/>
            <a:ext cx="512064" cy="0"/>
          </a:xfrm>
          <a:custGeom>
            <a:avLst/>
            <a:gdLst/>
            <a:ahLst/>
            <a:cxnLst/>
            <a:rect l="l" t="t" r="r" b="b"/>
            <a:pathLst>
              <a:path w="56" h="0">
                <a:moveTo>
                  <a:pt x="0" y="0"/>
                </a:moveTo>
                <a:lnTo>
                  <a:pt x="56" y="0"/>
                </a:lnTo>
              </a:path>
            </a:pathLst>
          </a:custGeom>
          <a:noFill/>
          <a:ln w="10972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PE acquired or missing row 9"/>
          <p:cNvSpPr/>
          <p:nvPr/>
        </p:nvSpPr>
        <p:spPr>
          <a:xfrm>
            <a:off x="5989320" y="6519672"/>
            <a:ext cx="512064" cy="0"/>
          </a:xfrm>
          <a:custGeom>
            <a:avLst/>
            <a:gdLst/>
            <a:ahLst/>
            <a:cxnLst/>
            <a:rect l="l" t="t" r="r" b="b"/>
            <a:pathLst>
              <a:path w="56" h="0">
                <a:moveTo>
                  <a:pt x="0" y="0"/>
                </a:moveTo>
                <a:lnTo>
                  <a:pt x="56" y="0"/>
                </a:lnTo>
              </a:path>
            </a:pathLst>
          </a:custGeom>
          <a:noFill/>
          <a:ln w="10972">
            <a:solidFill>
              <a:srgbClr val="777777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PE acquired or missing row 10"/>
          <p:cNvSpPr/>
          <p:nvPr/>
        </p:nvSpPr>
        <p:spPr>
          <a:xfrm>
            <a:off x="5989320" y="6556248"/>
            <a:ext cx="512064" cy="0"/>
          </a:xfrm>
          <a:custGeom>
            <a:avLst/>
            <a:gdLst/>
            <a:ahLst/>
            <a:cxnLst/>
            <a:rect l="l" t="t" r="r" b="b"/>
            <a:pathLst>
              <a:path w="56" h="0">
                <a:moveTo>
                  <a:pt x="0" y="0"/>
                </a:moveTo>
                <a:lnTo>
                  <a:pt x="56" y="0"/>
                </a:lnTo>
              </a:path>
            </a:pathLst>
          </a:custGeom>
          <a:noFill/>
          <a:ln w="10972">
            <a:solidFill>
              <a:srgbClr val="FFFFF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PE acquired or missing row 11"/>
          <p:cNvSpPr/>
          <p:nvPr/>
        </p:nvSpPr>
        <p:spPr>
          <a:xfrm>
            <a:off x="5989320" y="6592824"/>
            <a:ext cx="512064" cy="0"/>
          </a:xfrm>
          <a:custGeom>
            <a:avLst/>
            <a:gdLst/>
            <a:ahLst/>
            <a:cxnLst/>
            <a:rect l="l" t="t" r="r" b="b"/>
            <a:pathLst>
              <a:path w="56" h="0">
                <a:moveTo>
                  <a:pt x="0" y="0"/>
                </a:moveTo>
                <a:lnTo>
                  <a:pt x="56" y="0"/>
                </a:lnTo>
              </a:path>
            </a:pathLst>
          </a:custGeom>
          <a:noFill/>
          <a:ln w="10972">
            <a:solidFill>
              <a:srgbClr val="FFFFFF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PE acquired or missing row 12"/>
          <p:cNvSpPr/>
          <p:nvPr/>
        </p:nvSpPr>
        <p:spPr>
          <a:xfrm>
            <a:off x="5989320" y="6629400"/>
            <a:ext cx="512064" cy="0"/>
          </a:xfrm>
          <a:custGeom>
            <a:avLst/>
            <a:gdLst/>
            <a:ahLst/>
            <a:cxnLst/>
            <a:rect l="l" t="t" r="r" b="b"/>
            <a:pathLst>
              <a:path w="56" h="0">
                <a:moveTo>
                  <a:pt x="0" y="0"/>
                </a:moveTo>
                <a:lnTo>
                  <a:pt x="56" y="0"/>
                </a:lnTo>
              </a:path>
            </a:pathLst>
          </a:custGeom>
          <a:noFill/>
          <a:ln w="10972">
            <a:solidFill>
              <a:srgbClr val="777777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PE acquired or missing row 13"/>
          <p:cNvSpPr/>
          <p:nvPr/>
        </p:nvSpPr>
        <p:spPr>
          <a:xfrm>
            <a:off x="5989320" y="6656832"/>
            <a:ext cx="512064" cy="0"/>
          </a:xfrm>
          <a:custGeom>
            <a:avLst/>
            <a:gdLst/>
            <a:ahLst/>
            <a:cxnLst/>
            <a:rect l="l" t="t" r="r" b="b"/>
            <a:pathLst>
              <a:path w="56" h="0">
                <a:moveTo>
                  <a:pt x="0" y="0"/>
                </a:moveTo>
                <a:lnTo>
                  <a:pt x="56" y="0"/>
                </a:lnTo>
              </a:path>
            </a:pathLst>
          </a:custGeom>
          <a:noFill/>
          <a:ln w="10972">
            <a:solidFill>
              <a:srgbClr val="777777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Retained row legend swatch"/>
          <p:cNvSpPr/>
          <p:nvPr/>
        </p:nvSpPr>
        <p:spPr>
          <a:xfrm>
            <a:off x="6620256" y="6300216"/>
            <a:ext cx="192024" cy="64008"/>
          </a:xfrm>
          <a:prstGeom prst="rect">
            <a:avLst/>
          </a:prstGeom>
          <a:solidFill>
            <a:srgbClr val="FFFFFF"/>
          </a:solidFill>
          <a:ln w="7315">
            <a:solidFill>
              <a:srgbClr val="33333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Missing row legend swatch"/>
          <p:cNvSpPr/>
          <p:nvPr/>
        </p:nvSpPr>
        <p:spPr>
          <a:xfrm>
            <a:off x="6620256" y="6473952"/>
            <a:ext cx="201168" cy="0"/>
          </a:xfrm>
          <a:custGeom>
            <a:avLst/>
            <a:gdLst/>
            <a:ahLst/>
            <a:cxnLst/>
            <a:rect l="l" t="t" r="r" b="b"/>
            <a:pathLst>
              <a:path w="22" h="0">
                <a:moveTo>
                  <a:pt x="0" y="0"/>
                </a:moveTo>
                <a:lnTo>
                  <a:pt x="22" y="0"/>
                </a:lnTo>
              </a:path>
            </a:pathLst>
          </a:custGeom>
          <a:noFill/>
          <a:ln w="15544">
            <a:solidFill>
              <a:srgbClr val="111111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Retained rows legend"/>
          <p:cNvSpPr txBox="1"/>
          <p:nvPr/>
        </p:nvSpPr>
        <p:spPr>
          <a:xfrm>
            <a:off x="6867144" y="6263640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12" b="0" i="0">
                <a:solidFill>
                  <a:srgbClr val="071D43"/>
                </a:solidFill>
                <a:latin typeface="Arial"/>
              </a:rPr>
              <a:t>Retained rows</a:t>
            </a:r>
          </a:p>
        </p:txBody>
      </p:sp>
      <p:sp>
        <p:nvSpPr>
          <p:cNvPr id="197" name="Missing rows legend"/>
          <p:cNvSpPr txBox="1"/>
          <p:nvPr/>
        </p:nvSpPr>
        <p:spPr>
          <a:xfrm>
            <a:off x="6867144" y="6409944"/>
            <a:ext cx="548640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12" b="0" i="0">
                <a:solidFill>
                  <a:srgbClr val="071D43"/>
                </a:solidFill>
                <a:latin typeface="Arial"/>
              </a:rPr>
              <a:t>Missing rows</a:t>
            </a:r>
          </a:p>
        </p:txBody>
      </p:sp>
      <p:sp>
        <p:nvSpPr>
          <p:cNvPr id="198" name="PE mask note"/>
          <p:cNvSpPr txBox="1"/>
          <p:nvPr/>
        </p:nvSpPr>
        <p:spPr>
          <a:xfrm>
            <a:off x="5879592" y="6803136"/>
            <a:ext cx="1481328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071D43"/>
                </a:solidFill>
                <a:latin typeface="Arial"/>
              </a:rPr>
              <a:t>Full or undersampled PE</a:t>
            </a:r>
          </a:p>
        </p:txBody>
      </p:sp>
      <p:sp>
        <p:nvSpPr>
          <p:cNvPr id="199" name="Rows to prediction"/>
          <p:cNvSpPr/>
          <p:nvPr/>
        </p:nvSpPr>
        <p:spPr>
          <a:xfrm>
            <a:off x="7214616" y="5897880"/>
            <a:ext cx="265176" cy="0"/>
          </a:xfrm>
          <a:custGeom>
            <a:avLst/>
            <a:gdLst/>
            <a:ahLst/>
            <a:cxnLst/>
            <a:rect l="l" t="t" r="r" b="b"/>
            <a:pathLst>
              <a:path w="29" h="0">
                <a:moveTo>
                  <a:pt x="0" y="0"/>
                </a:moveTo>
                <a:lnTo>
                  <a:pt x="29" y="0"/>
                </a:lnTo>
              </a:path>
            </a:pathLst>
          </a:custGeom>
          <a:noFill/>
          <a:ln w="15544">
            <a:solidFill>
              <a:srgbClr val="009C9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Predicted data frame"/>
          <p:cNvSpPr/>
          <p:nvPr/>
        </p:nvSpPr>
        <p:spPr>
          <a:xfrm>
            <a:off x="7498079" y="5596128"/>
            <a:ext cx="1216152" cy="1188720"/>
          </a:xfrm>
          <a:prstGeom prst="roundRect">
            <a:avLst>
              <a:gd name="adj" fmla="val 1500"/>
            </a:avLst>
          </a:prstGeom>
          <a:solidFill>
            <a:srgbClr val="F1FAFC"/>
          </a:solidFill>
          <a:ln w="14630">
            <a:solidFill>
              <a:srgbClr val="009C9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Predicted data label"/>
          <p:cNvSpPr txBox="1"/>
          <p:nvPr/>
        </p:nvSpPr>
        <p:spPr>
          <a:xfrm>
            <a:off x="7571231" y="5641848"/>
            <a:ext cx="1069848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7" b="0" i="0">
                <a:solidFill>
                  <a:srgbClr val="071D43"/>
                </a:solidFill>
                <a:latin typeface="Arial"/>
              </a:rPr>
              <a:t>Predicted complex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7" b="0" i="0">
                <a:solidFill>
                  <a:srgbClr val="071D43"/>
                </a:solidFill>
                <a:latin typeface="Arial"/>
              </a:rPr>
              <a:t>data</a:t>
            </a:r>
          </a:p>
        </p:txBody>
      </p:sp>
      <p:grpSp>
        <p:nvGrpSpPr>
          <p:cNvPr id="210" name="Predicted complex data — four receiver coils"/>
          <p:cNvGrpSpPr/>
          <p:nvPr/>
        </p:nvGrpSpPr>
        <p:grpSpPr>
          <a:xfrm>
            <a:off x="7744968" y="5925312"/>
            <a:ext cx="740664" cy="740664"/>
            <a:chOff x="7744968" y="5925312"/>
            <a:chExt cx="740664" cy="740664"/>
          </a:xfrm>
        </p:grpSpPr>
        <p:pic>
          <p:nvPicPr>
            <p:cNvPr id="202" name="Predicted complex data — four receiver coils coil 0" descr="predicted_coil0.pn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7827264" y="5925312"/>
              <a:ext cx="658368" cy="658368"/>
            </a:xfrm>
            <a:prstGeom prst="rect">
              <a:avLst/>
            </a:prstGeom>
          </p:spPr>
        </p:pic>
        <p:sp>
          <p:nvSpPr>
            <p:cNvPr id="203" name="Predicted complex data — four receiver coils outline 0"/>
            <p:cNvSpPr/>
            <p:nvPr/>
          </p:nvSpPr>
          <p:spPr>
            <a:xfrm>
              <a:off x="7827264" y="5925312"/>
              <a:ext cx="658368" cy="658368"/>
            </a:xfrm>
            <a:prstGeom prst="rect">
              <a:avLst/>
            </a:prstGeom>
            <a:noFill/>
            <a:ln w="5029">
              <a:solidFill>
                <a:srgbClr val="37434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04" name="Predicted complex data — four receiver coils coil 1" descr="predicted_coil1.png"/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7799831" y="5952744"/>
              <a:ext cx="658368" cy="658368"/>
            </a:xfrm>
            <a:prstGeom prst="rect">
              <a:avLst/>
            </a:prstGeom>
          </p:spPr>
        </p:pic>
        <p:sp>
          <p:nvSpPr>
            <p:cNvPr id="205" name="Predicted complex data — four receiver coils outline 1"/>
            <p:cNvSpPr/>
            <p:nvPr/>
          </p:nvSpPr>
          <p:spPr>
            <a:xfrm>
              <a:off x="7799831" y="5952744"/>
              <a:ext cx="658368" cy="658368"/>
            </a:xfrm>
            <a:prstGeom prst="rect">
              <a:avLst/>
            </a:prstGeom>
            <a:noFill/>
            <a:ln w="5029">
              <a:solidFill>
                <a:srgbClr val="37434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06" name="Predicted complex data — four receiver coils coil 2" descr="predicted_coil2.png"/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7772400" y="5980176"/>
              <a:ext cx="658368" cy="658368"/>
            </a:xfrm>
            <a:prstGeom prst="rect">
              <a:avLst/>
            </a:prstGeom>
          </p:spPr>
        </p:pic>
        <p:sp>
          <p:nvSpPr>
            <p:cNvPr id="207" name="Predicted complex data — four receiver coils outline 2"/>
            <p:cNvSpPr/>
            <p:nvPr/>
          </p:nvSpPr>
          <p:spPr>
            <a:xfrm>
              <a:off x="7772400" y="5980176"/>
              <a:ext cx="658368" cy="658368"/>
            </a:xfrm>
            <a:prstGeom prst="rect">
              <a:avLst/>
            </a:prstGeom>
            <a:noFill/>
            <a:ln w="5029">
              <a:solidFill>
                <a:srgbClr val="37434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pic>
          <p:nvPicPr>
            <p:cNvPr id="208" name="Predicted complex data — four receiver coils coil 3" descr="predicted_coil3.pn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7744968" y="6007608"/>
              <a:ext cx="658368" cy="658368"/>
            </a:xfrm>
            <a:prstGeom prst="rect">
              <a:avLst/>
            </a:prstGeom>
          </p:spPr>
        </p:pic>
        <p:sp>
          <p:nvSpPr>
            <p:cNvPr id="209" name="Predicted complex data — four receiver coils outline 3"/>
            <p:cNvSpPr/>
            <p:nvPr/>
          </p:nvSpPr>
          <p:spPr>
            <a:xfrm>
              <a:off x="7744968" y="6007608"/>
              <a:ext cx="658368" cy="658368"/>
            </a:xfrm>
            <a:prstGeom prst="rect">
              <a:avLst/>
            </a:prstGeom>
            <a:noFill/>
            <a:ln w="5029">
              <a:solidFill>
                <a:srgbClr val="37434A"/>
              </a:solidFill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11" name="Predicted data formula"/>
          <p:cNvSpPr txBox="1"/>
          <p:nvPr/>
        </p:nvSpPr>
        <p:spPr>
          <a:xfrm>
            <a:off x="7772400" y="6803136"/>
            <a:ext cx="69494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439" i="1">
                <a:solidFill>
                  <a:srgbClr val="071D43"/>
                </a:solidFill>
                <a:latin typeface="Liberation Serif"/>
              </a:rPr>
              <a:t>F</a:t>
            </a:r>
            <a:r>
              <a:rPr sz="1007" i="1" baseline="-22000">
                <a:solidFill>
                  <a:srgbClr val="071D43"/>
                </a:solidFill>
                <a:latin typeface="Liberation Serif"/>
              </a:rPr>
              <a:t>c</a:t>
            </a:r>
            <a:r>
              <a:rPr sz="1439" i="1">
                <a:solidFill>
                  <a:srgbClr val="071D43"/>
                </a:solidFill>
                <a:latin typeface="Liberation Serif"/>
              </a:rPr>
              <a:t>(x)</a:t>
            </a:r>
          </a:p>
        </p:txBody>
      </p:sp>
      <p:sp>
        <p:nvSpPr>
          <p:cNvPr id="212" name="Forward operator formula band"/>
          <p:cNvSpPr/>
          <p:nvPr/>
        </p:nvSpPr>
        <p:spPr>
          <a:xfrm>
            <a:off x="338328" y="7150608"/>
            <a:ext cx="8366760" cy="457200"/>
          </a:xfrm>
          <a:prstGeom prst="roundRect">
            <a:avLst>
              <a:gd name="adj" fmla="val 1500"/>
            </a:avLst>
          </a:prstGeom>
          <a:solidFill>
            <a:srgbClr val="EFF8FB"/>
          </a:solidFill>
          <a:ln w="13716">
            <a:solidFill>
              <a:srgbClr val="BDE6E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Forward operator formula left"/>
          <p:cNvSpPr txBox="1"/>
          <p:nvPr/>
        </p:nvSpPr>
        <p:spPr>
          <a:xfrm>
            <a:off x="1572768" y="7205472"/>
            <a:ext cx="1911095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84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584" i="1">
                <a:solidFill>
                  <a:srgbClr val="071D43"/>
                </a:solidFill>
                <a:latin typeface="Liberation Serif"/>
              </a:rPr>
              <a:t>F</a:t>
            </a:r>
            <a:r>
              <a:rPr sz="1108" i="1" baseline="-22000">
                <a:solidFill>
                  <a:srgbClr val="071D43"/>
                </a:solidFill>
                <a:latin typeface="Liberation Serif"/>
              </a:rPr>
              <a:t>c</a:t>
            </a:r>
            <a:r>
              <a:rPr sz="1584" i="1">
                <a:solidFill>
                  <a:srgbClr val="071D43"/>
                </a:solidFill>
                <a:latin typeface="Liberation Serif"/>
              </a:rPr>
              <a:t>(x) = M D</a:t>
            </a:r>
            <a:r>
              <a:rPr sz="1108" i="1" baseline="-22000">
                <a:solidFill>
                  <a:srgbClr val="071D43"/>
                </a:solidFill>
                <a:latin typeface="Liberation Serif"/>
              </a:rPr>
              <a:t>RO</a:t>
            </a:r>
            <a:r>
              <a:rPr sz="1584" i="1">
                <a:solidFill>
                  <a:srgbClr val="071D43"/>
                </a:solidFill>
                <a:latin typeface="Liberation Serif"/>
              </a:rPr>
              <a:t> A</a:t>
            </a:r>
            <a:r>
              <a:rPr sz="1108" i="1" baseline="-22000">
                <a:solidFill>
                  <a:srgbClr val="071D43"/>
                </a:solidFill>
                <a:latin typeface="Liberation Serif"/>
              </a:rPr>
              <a:t>PE</a:t>
            </a:r>
            <a:r>
              <a:rPr sz="1584" i="1">
                <a:solidFill>
                  <a:srgbClr val="071D43"/>
                </a:solidFill>
                <a:latin typeface="Liberation Serif"/>
              </a:rPr>
              <a:t> [Ŝ</a:t>
            </a:r>
            <a:r>
              <a:rPr sz="1108" i="1" baseline="-22000">
                <a:solidFill>
                  <a:srgbClr val="071D43"/>
                </a:solidFill>
                <a:latin typeface="Liberation Serif"/>
              </a:rPr>
              <a:t>c</a:t>
            </a:r>
          </a:p>
        </p:txBody>
      </p:sp>
      <p:sp>
        <p:nvSpPr>
          <p:cNvPr id="214" name="Forward operator scaling numerator"/>
          <p:cNvSpPr txBox="1"/>
          <p:nvPr/>
        </p:nvSpPr>
        <p:spPr>
          <a:xfrm>
            <a:off x="3493008" y="7178040"/>
            <a:ext cx="457200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152" i="1">
                <a:solidFill>
                  <a:srgbClr val="071D43"/>
                </a:solidFill>
                <a:latin typeface="Liberation Serif"/>
              </a:rPr>
              <a:t>x + 1</a:t>
            </a:r>
          </a:p>
        </p:txBody>
      </p:sp>
      <p:sp>
        <p:nvSpPr>
          <p:cNvPr id="215" name="Forward operator scaling fraction bar"/>
          <p:cNvSpPr/>
          <p:nvPr/>
        </p:nvSpPr>
        <p:spPr>
          <a:xfrm>
            <a:off x="3511296" y="7351776"/>
            <a:ext cx="420624" cy="0"/>
          </a:xfrm>
          <a:custGeom>
            <a:avLst/>
            <a:gdLst/>
            <a:ahLst/>
            <a:cxnLst/>
            <a:rect l="l" t="t" r="r" b="b"/>
            <a:pathLst>
              <a:path w="46" h="0">
                <a:moveTo>
                  <a:pt x="0" y="0"/>
                </a:moveTo>
                <a:lnTo>
                  <a:pt x="46" y="0"/>
                </a:lnTo>
              </a:path>
            </a:pathLst>
          </a:custGeom>
          <a:noFill/>
          <a:ln w="7315">
            <a:solidFill>
              <a:srgbClr val="071D4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Forward operator scaling denominator"/>
          <p:cNvSpPr txBox="1"/>
          <p:nvPr/>
        </p:nvSpPr>
        <p:spPr>
          <a:xfrm>
            <a:off x="3493008" y="7360920"/>
            <a:ext cx="457200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152" i="1">
                <a:solidFill>
                  <a:srgbClr val="071D43"/>
                </a:solidFill>
                <a:latin typeface="Liberation Serif"/>
              </a:rPr>
              <a:t>2</a:t>
            </a:r>
          </a:p>
        </p:txBody>
      </p:sp>
      <p:sp>
        <p:nvSpPr>
          <p:cNvPr id="217" name="Forward operator closing bracket"/>
          <p:cNvSpPr txBox="1"/>
          <p:nvPr/>
        </p:nvSpPr>
        <p:spPr>
          <a:xfrm>
            <a:off x="3959352" y="7205472"/>
            <a:ext cx="219456" cy="3383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32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2232" i="1">
                <a:solidFill>
                  <a:srgbClr val="071D43"/>
                </a:solidFill>
                <a:latin typeface="Liberation Serif"/>
              </a:rPr>
              <a:t>]</a:t>
            </a:r>
          </a:p>
        </p:txBody>
      </p:sp>
      <p:sp>
        <p:nvSpPr>
          <p:cNvPr id="218" name="Formula example separator"/>
          <p:cNvSpPr/>
          <p:nvPr/>
        </p:nvSpPr>
        <p:spPr>
          <a:xfrm>
            <a:off x="5632704" y="7251192"/>
            <a:ext cx="0" cy="256032"/>
          </a:xfrm>
          <a:custGeom>
            <a:avLst/>
            <a:gdLst/>
            <a:ahLst/>
            <a:cxnLst/>
            <a:rect l="l" t="t" r="r" b="b"/>
            <a:pathLst>
              <a:path w="0" h="28">
                <a:moveTo>
                  <a:pt x="0" y="0"/>
                </a:moveTo>
                <a:lnTo>
                  <a:pt x="0" y="28"/>
                </a:lnTo>
              </a:path>
            </a:pathLst>
          </a:custGeom>
          <a:noFill/>
          <a:ln w="11887">
            <a:solidFill>
              <a:srgbClr val="759D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Acquisition grid example"/>
          <p:cNvSpPr txBox="1"/>
          <p:nvPr/>
        </p:nvSpPr>
        <p:spPr>
          <a:xfrm>
            <a:off x="5815584" y="7251192"/>
            <a:ext cx="279806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7" b="0" i="0">
                <a:solidFill>
                  <a:srgbClr val="174F73"/>
                </a:solidFill>
                <a:latin typeface="Arial"/>
              </a:rPr>
              <a:t>Example: 192 × 192 image grid → 96 × 96 acquisition</a:t>
            </a:r>
          </a:p>
        </p:txBody>
      </p:sp>
      <p:sp>
        <p:nvSpPr>
          <p:cNvPr id="220" name="Phase refinement inset"/>
          <p:cNvSpPr/>
          <p:nvPr/>
        </p:nvSpPr>
        <p:spPr>
          <a:xfrm>
            <a:off x="9555480" y="5413248"/>
            <a:ext cx="3438144" cy="2322576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4630">
            <a:solidFill>
              <a:srgbClr val="912CB1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Phase refinement title"/>
          <p:cNvSpPr txBox="1"/>
          <p:nvPr/>
        </p:nvSpPr>
        <p:spPr>
          <a:xfrm>
            <a:off x="9710928" y="5486400"/>
            <a:ext cx="3182112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6" b="1" i="0">
                <a:solidFill>
                  <a:srgbClr val="792498"/>
                </a:solidFill>
                <a:latin typeface="Arial"/>
              </a:rPr>
              <a:t>Experimental extension: phase refinement</a:t>
            </a:r>
          </a:p>
        </p:txBody>
      </p:sp>
      <p:sp>
        <p:nvSpPr>
          <p:cNvPr id="222" name="Optional phase refinement link"/>
          <p:cNvSpPr/>
          <p:nvPr/>
        </p:nvSpPr>
        <p:spPr>
          <a:xfrm>
            <a:off x="8851392" y="5458968"/>
            <a:ext cx="685800" cy="438912"/>
          </a:xfrm>
          <a:custGeom>
            <a:avLst/>
            <a:gdLst/>
            <a:ahLst/>
            <a:cxnLst/>
            <a:rect l="l" t="t" r="r" b="b"/>
            <a:pathLst>
              <a:path w="75" h="48">
                <a:moveTo>
                  <a:pt x="0" y="0"/>
                </a:moveTo>
                <a:lnTo>
                  <a:pt x="40" y="48"/>
                </a:lnTo>
                <a:lnTo>
                  <a:pt x="75" y="48"/>
                </a:lnTo>
              </a:path>
            </a:pathLst>
          </a:custGeom>
          <a:noFill/>
          <a:ln w="13716">
            <a:solidFill>
              <a:srgbClr val="912CB1"/>
            </a:solidFill>
            <a:prstDash val="dash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Optional phase label"/>
          <p:cNvSpPr txBox="1"/>
          <p:nvPr/>
        </p:nvSpPr>
        <p:spPr>
          <a:xfrm>
            <a:off x="9061704" y="5550408"/>
            <a:ext cx="512064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792498"/>
                </a:solidFill>
                <a:latin typeface="Arial"/>
              </a:rPr>
              <a:t>Optional</a:t>
            </a:r>
          </a:p>
        </p:txBody>
      </p:sp>
      <p:pic>
        <p:nvPicPr>
          <p:cNvPr id="224" name="Actual acquired-even residual phase" descr="residual_phas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738360" y="5943600"/>
            <a:ext cx="932688" cy="466344"/>
          </a:xfrm>
          <a:prstGeom prst="rect">
            <a:avLst/>
          </a:prstGeom>
        </p:spPr>
      </p:pic>
      <p:pic>
        <p:nvPicPr>
          <p:cNvPr id="225" name="Residual phase generated colorbar" descr="residual_colorbar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809208" y="5870448"/>
            <a:ext cx="52863" cy="676656"/>
          </a:xfrm>
          <a:prstGeom prst="rect">
            <a:avLst/>
          </a:prstGeom>
        </p:spPr>
      </p:pic>
      <p:sp>
        <p:nvSpPr>
          <p:cNvPr id="226" name="Residual phase map boundary"/>
          <p:cNvSpPr/>
          <p:nvPr/>
        </p:nvSpPr>
        <p:spPr>
          <a:xfrm>
            <a:off x="9738360" y="5943600"/>
            <a:ext cx="932688" cy="466344"/>
          </a:xfrm>
          <a:prstGeom prst="rect">
            <a:avLst/>
          </a:prstGeom>
          <a:noFill/>
          <a:ln w="5486">
            <a:solidFill>
              <a:srgbClr val="9090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sidual phase domain"/>
          <p:cNvSpPr txBox="1"/>
          <p:nvPr/>
        </p:nvSpPr>
        <p:spPr>
          <a:xfrm>
            <a:off x="9729216" y="6446520"/>
            <a:ext cx="950976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9" b="0" i="0">
                <a:solidFill>
                  <a:srgbClr val="071D43"/>
                </a:solidFill>
                <a:latin typeface="Arial"/>
              </a:rPr>
              <a:t>Even PE × RO</a:t>
            </a:r>
          </a:p>
        </p:txBody>
      </p:sp>
      <p:sp>
        <p:nvSpPr>
          <p:cNvPr id="228" name="Residual phase upper scale"/>
          <p:cNvSpPr txBox="1"/>
          <p:nvPr/>
        </p:nvSpPr>
        <p:spPr>
          <a:xfrm>
            <a:off x="10908792" y="5806440"/>
            <a:ext cx="265176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9" b="0" i="0">
                <a:solidFill>
                  <a:srgbClr val="071D43"/>
                </a:solidFill>
                <a:latin typeface="Arial"/>
              </a:rPr>
              <a:t>+0.3</a:t>
            </a:r>
          </a:p>
        </p:txBody>
      </p:sp>
      <p:sp>
        <p:nvSpPr>
          <p:cNvPr id="229" name="Residual phase zero scale"/>
          <p:cNvSpPr txBox="1"/>
          <p:nvPr/>
        </p:nvSpPr>
        <p:spPr>
          <a:xfrm>
            <a:off x="10908792" y="6117336"/>
            <a:ext cx="210312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9" b="0" i="0">
                <a:solidFill>
                  <a:srgbClr val="071D43"/>
                </a:solidFill>
                <a:latin typeface="Arial"/>
              </a:rPr>
              <a:t>0</a:t>
            </a:r>
          </a:p>
        </p:txBody>
      </p:sp>
      <p:sp>
        <p:nvSpPr>
          <p:cNvPr id="230" name="Residual phase lower scale"/>
          <p:cNvSpPr txBox="1"/>
          <p:nvPr/>
        </p:nvSpPr>
        <p:spPr>
          <a:xfrm>
            <a:off x="10908792" y="6446520"/>
            <a:ext cx="265176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9" b="0" i="0">
                <a:solidFill>
                  <a:srgbClr val="071D43"/>
                </a:solidFill>
                <a:latin typeface="Arial"/>
              </a:rPr>
              <a:t>−0.3</a:t>
            </a:r>
          </a:p>
        </p:txBody>
      </p:sp>
      <p:sp>
        <p:nvSpPr>
          <p:cNvPr id="231" name="Residual phase caption"/>
          <p:cNvSpPr txBox="1"/>
          <p:nvPr/>
        </p:nvSpPr>
        <p:spPr>
          <a:xfrm>
            <a:off x="9710928" y="6647688"/>
            <a:ext cx="1014984" cy="2834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071D43"/>
                </a:solidFill>
                <a:latin typeface="Arial"/>
              </a:rPr>
              <a:t>Residual φ [rad]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071D43"/>
                </a:solidFill>
                <a:latin typeface="Arial"/>
              </a:rPr>
              <a:t>48 × 96</a:t>
            </a:r>
          </a:p>
        </p:txBody>
      </p:sp>
      <p:sp>
        <p:nvSpPr>
          <p:cNvPr id="232" name="Phase fitting note"/>
          <p:cNvSpPr txBox="1"/>
          <p:nvPr/>
        </p:nvSpPr>
        <p:spPr>
          <a:xfrm>
            <a:off x="11192256" y="5824728"/>
            <a:ext cx="1682496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071D43"/>
                </a:solidFill>
                <a:latin typeface="Arial"/>
              </a:rPr>
              <a:t>• Fit residual odd/even phase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071D43"/>
                </a:solidFill>
                <a:latin typeface="Arial"/>
              </a:rPr>
              <a:t>   from measured data</a:t>
            </a:r>
          </a:p>
        </p:txBody>
      </p:sp>
      <p:sp>
        <p:nvSpPr>
          <p:cNvPr id="233" name="Phase row factors"/>
          <p:cNvSpPr txBox="1"/>
          <p:nvPr/>
        </p:nvSpPr>
        <p:spPr>
          <a:xfrm>
            <a:off x="11192256" y="6163056"/>
            <a:ext cx="1700784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3" b="0" i="0">
                <a:solidFill>
                  <a:srgbClr val="071D43"/>
                </a:solidFill>
                <a:latin typeface="Arial"/>
              </a:rPr>
              <a:t>• Even rows: exp(iφ); odd rows: 1</a:t>
            </a:r>
          </a:p>
        </p:txBody>
      </p:sp>
      <p:sp>
        <p:nvSpPr>
          <p:cNvPr id="234" name="Phase optimization note"/>
          <p:cNvSpPr txBox="1"/>
          <p:nvPr/>
        </p:nvSpPr>
        <p:spPr>
          <a:xfrm>
            <a:off x="11192256" y="6373368"/>
            <a:ext cx="1700784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7" b="0" i="0">
                <a:solidFill>
                  <a:srgbClr val="071D43"/>
                </a:solidFill>
                <a:latin typeface="Arial"/>
              </a:rPr>
              <a:t>• Update phase during sampling;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7" b="0" i="0">
                <a:solidFill>
                  <a:srgbClr val="071D43"/>
                </a:solidFill>
                <a:latin typeface="Arial"/>
              </a:rPr>
              <a:t>   prior stays frozen</a:t>
            </a:r>
          </a:p>
        </p:txBody>
      </p:sp>
      <p:sp>
        <p:nvSpPr>
          <p:cNvPr id="235" name="Phase refinement equation frame"/>
          <p:cNvSpPr/>
          <p:nvPr/>
        </p:nvSpPr>
        <p:spPr>
          <a:xfrm>
            <a:off x="9720072" y="7040880"/>
            <a:ext cx="3118104" cy="402336"/>
          </a:xfrm>
          <a:prstGeom prst="roundRect">
            <a:avLst>
              <a:gd name="adj" fmla="val 1500"/>
            </a:avLst>
          </a:prstGeom>
          <a:solidFill>
            <a:srgbClr val="FCF7FD"/>
          </a:solidFill>
          <a:ln w="10972">
            <a:solidFill>
              <a:srgbClr val="C69AD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Phase refinement equation"/>
          <p:cNvSpPr txBox="1"/>
          <p:nvPr/>
        </p:nvSpPr>
        <p:spPr>
          <a:xfrm>
            <a:off x="9784080" y="7077456"/>
            <a:ext cx="2990088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439" i="1">
                <a:solidFill>
                  <a:srgbClr val="071D43"/>
                </a:solidFill>
                <a:latin typeface="Liberation Serif"/>
              </a:rPr>
              <a:t>F</a:t>
            </a:r>
            <a:r>
              <a:rPr sz="1007" i="1" baseline="-22000">
                <a:solidFill>
                  <a:srgbClr val="071D43"/>
                </a:solidFill>
                <a:latin typeface="Liberation Serif"/>
              </a:rPr>
              <a:t>φ,c</a:t>
            </a:r>
            <a:r>
              <a:rPr sz="1439" i="1">
                <a:solidFill>
                  <a:srgbClr val="071D43"/>
                </a:solidFill>
                <a:latin typeface="Liberation Serif"/>
              </a:rPr>
              <a:t>(x) = M{ exp(iEφ) ⊙ D</a:t>
            </a:r>
            <a:r>
              <a:rPr sz="1007" i="1" baseline="-22000">
                <a:solidFill>
                  <a:srgbClr val="071D43"/>
                </a:solidFill>
                <a:latin typeface="Liberation Serif"/>
              </a:rPr>
              <a:t>RO</a:t>
            </a:r>
            <a:r>
              <a:rPr sz="1439" i="1">
                <a:solidFill>
                  <a:srgbClr val="071D43"/>
                </a:solidFill>
                <a:latin typeface="Liberation Serif"/>
              </a:rPr>
              <a:t> A</a:t>
            </a:r>
            <a:r>
              <a:rPr sz="1007" i="1" baseline="-22000">
                <a:solidFill>
                  <a:srgbClr val="071D43"/>
                </a:solidFill>
                <a:latin typeface="Liberation Serif"/>
              </a:rPr>
              <a:t>PE</a:t>
            </a:r>
            <a:r>
              <a:rPr sz="1439" i="1">
                <a:solidFill>
                  <a:srgbClr val="071D43"/>
                </a:solidFill>
                <a:latin typeface="Liberation Serif"/>
              </a:rPr>
              <a:t> [Ŝ</a:t>
            </a:r>
            <a:r>
              <a:rPr sz="1007" i="1" baseline="-22000">
                <a:solidFill>
                  <a:srgbClr val="071D43"/>
                </a:solidFill>
                <a:latin typeface="Liberation Serif"/>
              </a:rPr>
              <a:t>c</a:t>
            </a:r>
            <a:r>
              <a:rPr sz="1439" i="1">
                <a:solidFill>
                  <a:srgbClr val="071D43"/>
                </a:solidFill>
                <a:latin typeface="Liberation Serif"/>
              </a:rPr>
              <a:t> m] }</a:t>
            </a:r>
          </a:p>
        </p:txBody>
      </p:sp>
      <p:sp>
        <p:nvSpPr>
          <p:cNvPr id="237" name="Even row insertion note"/>
          <p:cNvSpPr txBox="1"/>
          <p:nvPr/>
        </p:nvSpPr>
        <p:spPr>
          <a:xfrm>
            <a:off x="9701784" y="7461504"/>
            <a:ext cx="3182112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7" b="0" i="0">
                <a:solidFill>
                  <a:srgbClr val="792498"/>
                </a:solidFill>
                <a:latin typeface="Arial"/>
              </a:rPr>
              <a:t>E inserts phase on original even scanner rows BEFORE PE masking.</a:t>
            </a:r>
          </a:p>
        </p:txBody>
      </p:sp>
      <p:sp>
        <p:nvSpPr>
          <p:cNvPr id="238" name="Legend key"/>
          <p:cNvSpPr txBox="1"/>
          <p:nvPr/>
        </p:nvSpPr>
        <p:spPr>
          <a:xfrm>
            <a:off x="192024" y="7964424"/>
            <a:ext cx="310896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2" b="1" i="0">
                <a:solidFill>
                  <a:srgbClr val="071D43"/>
                </a:solidFill>
                <a:latin typeface="Arial"/>
              </a:rPr>
              <a:t>Key:</a:t>
            </a:r>
          </a:p>
        </p:txBody>
      </p:sp>
      <p:sp>
        <p:nvSpPr>
          <p:cNvPr id="239" name="Legend prior"/>
          <p:cNvSpPr txBox="1"/>
          <p:nvPr/>
        </p:nvSpPr>
        <p:spPr>
          <a:xfrm>
            <a:off x="585216" y="7964424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12529C"/>
                </a:solidFill>
                <a:latin typeface="Arial"/>
              </a:rPr>
              <a:t>Blue:  learned prior</a:t>
            </a:r>
          </a:p>
        </p:txBody>
      </p:sp>
      <p:sp>
        <p:nvSpPr>
          <p:cNvPr id="240" name="Legend physics"/>
          <p:cNvSpPr txBox="1"/>
          <p:nvPr/>
        </p:nvSpPr>
        <p:spPr>
          <a:xfrm>
            <a:off x="1819656" y="7964424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087F87"/>
                </a:solidFill>
                <a:latin typeface="Arial"/>
              </a:rPr>
              <a:t>Teal:  fixed physics</a:t>
            </a:r>
          </a:p>
        </p:txBody>
      </p:sp>
      <p:sp>
        <p:nvSpPr>
          <p:cNvPr id="241" name="Legend maps"/>
          <p:cNvSpPr txBox="1"/>
          <p:nvPr/>
        </p:nvSpPr>
        <p:spPr>
          <a:xfrm>
            <a:off x="3017520" y="7964424"/>
            <a:ext cx="167335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792498"/>
                </a:solidFill>
                <a:latin typeface="Arial"/>
              </a:rPr>
              <a:t>Purple:  phase / coil estimates</a:t>
            </a:r>
          </a:p>
        </p:txBody>
      </p:sp>
      <p:sp>
        <p:nvSpPr>
          <p:cNvPr id="242" name="Legend consistency"/>
          <p:cNvSpPr txBox="1"/>
          <p:nvPr/>
        </p:nvSpPr>
        <p:spPr>
          <a:xfrm>
            <a:off x="4764024" y="7964424"/>
            <a:ext cx="2322576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CD660F"/>
                </a:solidFill>
                <a:latin typeface="Arial"/>
              </a:rPr>
              <a:t>Orange:  measurement consistency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